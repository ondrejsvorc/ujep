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308" r:id="rId3"/>
    <p:sldId id="296" r:id="rId4"/>
    <p:sldId id="309" r:id="rId5"/>
    <p:sldId id="283" r:id="rId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444444"/>
    <a:srgbClr val="8599AA"/>
    <a:srgbClr val="525252"/>
    <a:srgbClr val="007BC6"/>
    <a:srgbClr val="00D8FF"/>
    <a:srgbClr val="7CC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F9F60-53EA-4412-ACEA-357B39441279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9358D-C246-4F88-A2A0-85E0F35EE2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325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9358D-C246-4F88-A2A0-85E0F35EE278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7964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5D2F83-4F94-8D62-923A-EDC7EA2F5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6E4563-0F88-9A10-298A-3F3B8415C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21C72F7-0C28-D971-C6A5-2B31DC297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96D3C51-1176-E43C-8FED-8239F77F8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49C466E-BED5-CEF2-75E6-F8389DE8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1192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CF043E-44B8-5AFF-A6FD-B95F96FD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64E962-EF0B-C90E-5AF8-8FA210936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BA8010A-2B16-DF6C-B799-4064E14BF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58E3783-F327-C756-C62C-96749826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6A81A5-1612-835C-2A8C-E3B291AF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21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6F0363-0E39-33E3-EA94-35CED901B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65D2DDF-C678-B899-D835-7EC47FCC6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58D2250-F1E3-51FC-12AA-A246A5A4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692BC04-E114-E58D-5C5C-9A293D01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A01D2F6-1583-B09F-88B5-7B669201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152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D9C6BE-B170-98AC-FB14-F032C9AB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EBC99F-7BA7-FB7E-EF56-991DB6C7F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C34ADCF-2558-6C1D-86C5-A796F4937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76A04AD-5541-922C-9358-6EE84682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E8C79-65ED-9208-30DC-E362924A4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2E3249C-35FA-FA80-2B84-45E9920A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059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4B06D0-975A-0029-4947-9029835AE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3080222-9087-ABFF-1657-5342EB8AB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0BD95C1-12BC-BE87-2C3A-974C8E352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AE6B7B1-EE37-4CEA-A110-64E092E37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17BCF43-EA0D-4AF9-4948-D1464F20B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FF30722-19A0-38D5-6DE5-1A128324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A202AA4A-6DB3-39A0-FEA5-D69A3148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1C6AC10-505F-2A84-F11B-EFF7B3C2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6636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45AFAB-CCED-4D1C-CC13-F2C48068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26AEA9B-7511-B147-B369-8A40241C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B0282F3-91CC-2C6E-E41C-64D1CECFD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F347761-BCA9-0661-253B-5689FE35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086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1EC6687-C807-98DB-7C7F-A5EDF45B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338BE7B-0887-5817-7D45-636B1BF4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C47D35E-0D51-E273-F079-69D6DE0A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629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647D8D-E162-BF8D-4C7C-90A78565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F57D60-7CA2-CC9B-268D-127231CA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C1E5317-A052-EFB8-39EB-35A8CCD6A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094D8A9-FEDA-A447-07C5-000DE60E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B71FB37-D330-9994-06DA-70F4830A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6FF09A2-3076-B555-6E4B-C6B7477B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571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F38E1F-551A-DAAB-C70E-88B150430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8A2F87F-5087-5850-16BD-C1991DA8BE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0B92D89-F193-8C40-9CB0-EC4283D2F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0E2EE6D-BCCF-51F2-1F3F-EB56768A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5E28C61-44A8-F925-A698-DA41342F4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8A43E1D-3A47-CC98-1700-3F80F1B02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004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B2A1CF-72F0-D455-896D-B696A00B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F0FC423-71FA-E854-A315-B28B5ACB1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91EA907-B33A-1F7F-9F94-34CB5E77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F478A4C-8715-3AE9-ACE5-8A7BC9E1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4D400E-DB9A-A767-5323-0261A34B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6652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532F133-0F82-0C45-7D51-F5254499B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734FFD8-6C66-8350-C3E1-D5EAC346C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D764339-C9EA-6E67-7A23-3C96D272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3BAD5CF-93B2-0960-9245-5BBFB7E8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0FFC531-06B6-D3C5-69FA-3BE5A3148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291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8F6B85C-9E22-84E7-C78E-C7FFEC919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AA7AE8E-D7C3-FE53-E8A3-AA487D4EA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94FFAC3-FBD0-19AA-06D8-E8988ACC0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10CBD-A3AC-4517-8E4F-B541DD49A688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F3E77D4-F934-B7A3-1241-630FECEEED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8950E02-DA7F-51E0-E1A3-586490F66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310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64BDF-880C-E1A6-828D-A846B18B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cs-CZ" sz="4400" b="1" dirty="0">
                <a:solidFill>
                  <a:srgbClr val="444444"/>
                </a:solidFill>
              </a:rPr>
              <a:t>Výsledky prodeje kreditních karet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30854EB-EDDA-FFA7-9996-854BF6244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9902" y="3447786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cs-CZ" sz="2350" dirty="0">
                <a:solidFill>
                  <a:srgbClr val="002060"/>
                </a:solidFill>
              </a:rPr>
              <a:t>říjen 2025</a:t>
            </a:r>
            <a:endParaRPr lang="en-US" sz="2350" dirty="0">
              <a:solidFill>
                <a:srgbClr val="002060"/>
              </a:solidFill>
            </a:endParaRP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8CBBEF4D-E1CA-4EE7-CDED-C446A3F60FD8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6C65B5F1-7C18-DDBB-2C05-D54379EF1A4A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Podnadpis 2">
            <a:extLst>
              <a:ext uri="{FF2B5EF4-FFF2-40B4-BE49-F238E27FC236}">
                <a16:creationId xmlns:a16="http://schemas.microsoft.com/office/drawing/2014/main" id="{0C94C480-46BE-61C0-519F-45DF2CCE0870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 err="1">
                <a:solidFill>
                  <a:schemeClr val="dk1"/>
                </a:solidFill>
              </a:rPr>
              <a:t>Radílek</a:t>
            </a:r>
            <a:r>
              <a:rPr lang="cs-CZ" sz="1600" dirty="0">
                <a:solidFill>
                  <a:schemeClr val="dk1"/>
                </a:solidFill>
              </a:rPr>
              <a:t> s.r.o.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04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805DC-8BE1-C418-7EB3-22F20BB26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F9D356-4627-0853-F592-C8268B0B5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Výsledky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F173127C-540D-5925-3638-D50432959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6708" cy="4351338"/>
          </a:xfrm>
        </p:spPr>
        <p:txBody>
          <a:bodyPr>
            <a:normAutofit/>
          </a:bodyPr>
          <a:lstStyle/>
          <a:p>
            <a:r>
              <a:rPr lang="cs-CZ" sz="2400" b="1" dirty="0"/>
              <a:t>Plán: </a:t>
            </a:r>
            <a:r>
              <a:rPr lang="cs-CZ" sz="2400" dirty="0"/>
              <a:t>prodat 102 kreditních karet za říjen 2025</a:t>
            </a:r>
          </a:p>
          <a:p>
            <a:r>
              <a:rPr lang="cs-CZ" sz="2400" b="1" dirty="0"/>
              <a:t>Skutečnost:</a:t>
            </a:r>
            <a:r>
              <a:rPr lang="cs-CZ" sz="2400" dirty="0"/>
              <a:t> prodáno 86 ze 102 kreditních karet (o 16 méně)</a:t>
            </a:r>
          </a:p>
          <a:p>
            <a:r>
              <a:rPr lang="cs-CZ" sz="2400" b="1" dirty="0"/>
              <a:t>Plnění plánu: </a:t>
            </a:r>
            <a:r>
              <a:rPr lang="cs-CZ" sz="2400" dirty="0"/>
              <a:t>84%</a:t>
            </a: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1A69CC22-E64B-6C55-8540-0950F446E0DE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77F3632B-2012-70E5-90A5-9F2098AC3491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Podnadpis 2">
            <a:extLst>
              <a:ext uri="{FF2B5EF4-FFF2-40B4-BE49-F238E27FC236}">
                <a16:creationId xmlns:a16="http://schemas.microsoft.com/office/drawing/2014/main" id="{364CC36A-E4E4-5E36-8ADD-6E21DEF908DE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 err="1">
                <a:solidFill>
                  <a:schemeClr val="dk1"/>
                </a:solidFill>
              </a:rPr>
              <a:t>Radílek</a:t>
            </a:r>
            <a:r>
              <a:rPr lang="cs-CZ" sz="1600" dirty="0">
                <a:solidFill>
                  <a:schemeClr val="dk1"/>
                </a:solidFill>
              </a:rPr>
              <a:t> s.r.o.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7B1B5DF9-C244-30D1-2C5D-66B1638DB95A}"/>
              </a:ext>
            </a:extLst>
          </p:cNvPr>
          <p:cNvSpPr txBox="1"/>
          <p:nvPr/>
        </p:nvSpPr>
        <p:spPr>
          <a:xfrm>
            <a:off x="1000125" y="3705136"/>
            <a:ext cx="102489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cs-CZ" sz="2000" i="1" dirty="0">
                <a:solidFill>
                  <a:srgbClr val="444444"/>
                </a:solidFill>
              </a:rPr>
              <a:t>Na prodejích se podílelo celkem 31 prodejců z obsluhovaných regionů.</a:t>
            </a:r>
          </a:p>
          <a:p>
            <a:pPr marL="0" indent="0">
              <a:buNone/>
            </a:pPr>
            <a:r>
              <a:rPr lang="cs-CZ" sz="2000" i="1" dirty="0">
                <a:solidFill>
                  <a:srgbClr val="444444"/>
                </a:solidFill>
              </a:rPr>
              <a:t>Celkem je obsluhováno 5 regionů (viz další obrázek).</a:t>
            </a:r>
          </a:p>
        </p:txBody>
      </p:sp>
    </p:spTree>
    <p:extLst>
      <p:ext uri="{BB962C8B-B14F-4D97-AF65-F5344CB8AC3E}">
        <p14:creationId xmlns:p14="http://schemas.microsoft.com/office/powerpoint/2010/main" val="4116858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98489B-54C8-C076-F17C-2F8619DB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Výsledky dle regionů</a:t>
            </a:r>
            <a:endParaRPr lang="cs-CZ" b="1" dirty="0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87615300-A797-8E0C-C710-7FCA8E5A1C64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0DA607C-663C-409C-73CE-1BAAD69CB5B7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rgbClr val="002060"/>
              </a:solidFill>
            </a:endParaRPr>
          </a:p>
        </p:txBody>
      </p:sp>
      <p:sp>
        <p:nvSpPr>
          <p:cNvPr id="8" name="Podnadpis 2">
            <a:extLst>
              <a:ext uri="{FF2B5EF4-FFF2-40B4-BE49-F238E27FC236}">
                <a16:creationId xmlns:a16="http://schemas.microsoft.com/office/drawing/2014/main" id="{7704E5AB-D674-518D-308E-1AD6CE3DEC99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 err="1">
                <a:solidFill>
                  <a:schemeClr val="dk1"/>
                </a:solidFill>
              </a:rPr>
              <a:t>Radílek</a:t>
            </a:r>
            <a:r>
              <a:rPr lang="cs-CZ" sz="1600" dirty="0">
                <a:solidFill>
                  <a:schemeClr val="dk1"/>
                </a:solidFill>
              </a:rPr>
              <a:t> s.r.o.</a:t>
            </a:r>
            <a:endParaRPr lang="en-US" sz="1600" dirty="0">
              <a:solidFill>
                <a:srgbClr val="002060"/>
              </a:solidFill>
            </a:endParaRPr>
          </a:p>
        </p:txBody>
      </p:sp>
      <p:pic>
        <p:nvPicPr>
          <p:cNvPr id="11" name="Obrázek 10" descr="Obsah obrázku mapa, text&#10;&#10;Obsah generovaný pomocí AI může být nesprávný.">
            <a:extLst>
              <a:ext uri="{FF2B5EF4-FFF2-40B4-BE49-F238E27FC236}">
                <a16:creationId xmlns:a16="http://schemas.microsoft.com/office/drawing/2014/main" id="{44A8EE03-FAEE-FBA1-A1F2-17892CFD7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4" t="3939" r="3337" b="2819"/>
          <a:stretch>
            <a:fillRect/>
          </a:stretch>
        </p:blipFill>
        <p:spPr>
          <a:xfrm>
            <a:off x="838200" y="1571154"/>
            <a:ext cx="7824417" cy="4862170"/>
          </a:xfrm>
          <a:prstGeom prst="rect">
            <a:avLst/>
          </a:prstGeom>
        </p:spPr>
      </p:pic>
      <p:sp>
        <p:nvSpPr>
          <p:cNvPr id="14" name="TextovéPole 13">
            <a:extLst>
              <a:ext uri="{FF2B5EF4-FFF2-40B4-BE49-F238E27FC236}">
                <a16:creationId xmlns:a16="http://schemas.microsoft.com/office/drawing/2014/main" id="{7D6CA923-4E8C-1C6E-CB68-7ECFBEA22116}"/>
              </a:ext>
            </a:extLst>
          </p:cNvPr>
          <p:cNvSpPr txBox="1"/>
          <p:nvPr/>
        </p:nvSpPr>
        <p:spPr>
          <a:xfrm>
            <a:off x="2659109" y="490802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b="1" dirty="0">
                <a:solidFill>
                  <a:srgbClr val="002060"/>
                </a:solidFill>
              </a:rPr>
              <a:t>Jižní Čechy</a:t>
            </a: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053425AE-C813-E068-165E-A201B7F28999}"/>
              </a:ext>
            </a:extLst>
          </p:cNvPr>
          <p:cNvSpPr txBox="1"/>
          <p:nvPr/>
        </p:nvSpPr>
        <p:spPr>
          <a:xfrm>
            <a:off x="1411605" y="360461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b="1" dirty="0">
                <a:solidFill>
                  <a:srgbClr val="002060"/>
                </a:solidFill>
              </a:rPr>
              <a:t>Západní</a:t>
            </a:r>
          </a:p>
          <a:p>
            <a:r>
              <a:rPr lang="cs-CZ" sz="1600" b="1" dirty="0">
                <a:solidFill>
                  <a:srgbClr val="002060"/>
                </a:solidFill>
              </a:rPr>
              <a:t>  Čechy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A3B83F2D-381A-6282-5C44-D0D40880EB55}"/>
              </a:ext>
            </a:extLst>
          </p:cNvPr>
          <p:cNvSpPr txBox="1"/>
          <p:nvPr/>
        </p:nvSpPr>
        <p:spPr>
          <a:xfrm>
            <a:off x="3275405" y="322515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200" b="1" dirty="0">
                <a:solidFill>
                  <a:srgbClr val="002060"/>
                </a:solidFill>
              </a:rPr>
              <a:t>Praha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AED43029-B61B-9669-CCA1-90532621C32C}"/>
              </a:ext>
            </a:extLst>
          </p:cNvPr>
          <p:cNvSpPr txBox="1"/>
          <p:nvPr/>
        </p:nvSpPr>
        <p:spPr>
          <a:xfrm>
            <a:off x="2387600" y="221687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b="1" dirty="0">
                <a:solidFill>
                  <a:srgbClr val="002060"/>
                </a:solidFill>
              </a:rPr>
              <a:t>Severní</a:t>
            </a:r>
          </a:p>
          <a:p>
            <a:r>
              <a:rPr lang="cs-CZ" sz="1600" b="1" dirty="0">
                <a:solidFill>
                  <a:srgbClr val="002060"/>
                </a:solidFill>
              </a:rPr>
              <a:t> Čechy</a:t>
            </a:r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6DDC70F5-13EC-7C49-18BE-9C36D50EF77D}"/>
              </a:ext>
            </a:extLst>
          </p:cNvPr>
          <p:cNvSpPr/>
          <p:nvPr/>
        </p:nvSpPr>
        <p:spPr>
          <a:xfrm>
            <a:off x="838200" y="6005495"/>
            <a:ext cx="1663140" cy="327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E21271AC-3625-B8FC-7D93-C8C951C25EFE}"/>
              </a:ext>
            </a:extLst>
          </p:cNvPr>
          <p:cNvSpPr txBox="1"/>
          <p:nvPr/>
        </p:nvSpPr>
        <p:spPr>
          <a:xfrm>
            <a:off x="4617058" y="277208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b="1" dirty="0">
                <a:solidFill>
                  <a:srgbClr val="002060"/>
                </a:solidFill>
              </a:rPr>
              <a:t>Východní</a:t>
            </a:r>
          </a:p>
          <a:p>
            <a:r>
              <a:rPr lang="cs-CZ" sz="1600" b="1" dirty="0">
                <a:solidFill>
                  <a:srgbClr val="002060"/>
                </a:solidFill>
              </a:rPr>
              <a:t>    Čechy</a:t>
            </a:r>
          </a:p>
        </p:txBody>
      </p:sp>
      <p:graphicFrame>
        <p:nvGraphicFramePr>
          <p:cNvPr id="24" name="Tabulka 23">
            <a:extLst>
              <a:ext uri="{FF2B5EF4-FFF2-40B4-BE49-F238E27FC236}">
                <a16:creationId xmlns:a16="http://schemas.microsoft.com/office/drawing/2014/main" id="{3046709B-42DF-9AB7-03C5-3EA96ED65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265782"/>
              </p:ext>
            </p:extLst>
          </p:nvPr>
        </p:nvGraphicFramePr>
        <p:xfrm>
          <a:off x="7360496" y="817951"/>
          <a:ext cx="4240954" cy="2225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9725">
                  <a:extLst>
                    <a:ext uri="{9D8B030D-6E8A-4147-A177-3AD203B41FA5}">
                      <a16:colId xmlns:a16="http://schemas.microsoft.com/office/drawing/2014/main" val="3679451786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3201273136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1040235671"/>
                    </a:ext>
                  </a:extLst>
                </a:gridCol>
                <a:gridCol w="773854">
                  <a:extLst>
                    <a:ext uri="{9D8B030D-6E8A-4147-A177-3AD203B41FA5}">
                      <a16:colId xmlns:a16="http://schemas.microsoft.com/office/drawing/2014/main" val="2458199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sz="1600" dirty="0"/>
                        <a:t>Region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/>
                        <a:t>Plán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/>
                        <a:t>Skutečnost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/>
                        <a:t>Plnění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5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sz="1600" dirty="0"/>
                        <a:t>Praha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995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sz="1600" b="0" dirty="0"/>
                        <a:t>Východní Čechy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42%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538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sz="1600" b="0" dirty="0"/>
                        <a:t>Severní Čechy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b="1" dirty="0"/>
                        <a:t>111%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42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sz="1600" b="0" dirty="0"/>
                        <a:t>Západní Čechy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61%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059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600" b="0" dirty="0"/>
                        <a:t>Jižní Čechy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b="1" dirty="0"/>
                        <a:t>135%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444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11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57920-E259-1FAF-CE46-708C68BF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D99B2B-B93E-F695-9B3D-ABD6BCF46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Závěr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4FE8B55C-1EB5-4A24-99E9-74FAF983F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6708" cy="4351338"/>
          </a:xfrm>
        </p:spPr>
        <p:txBody>
          <a:bodyPr>
            <a:normAutofit/>
          </a:bodyPr>
          <a:lstStyle/>
          <a:p>
            <a:r>
              <a:rPr lang="cs-CZ" sz="2400" b="1" dirty="0"/>
              <a:t>Plán společnosti </a:t>
            </a:r>
            <a:r>
              <a:rPr lang="cs-CZ" sz="2400" dirty="0"/>
              <a:t>se bohužel nepodařilo splnit o 16 prodejů karet</a:t>
            </a:r>
          </a:p>
          <a:p>
            <a:r>
              <a:rPr lang="cs-CZ" sz="2400" b="1" dirty="0"/>
              <a:t>Severní Čechy </a:t>
            </a:r>
            <a:r>
              <a:rPr lang="cs-CZ" sz="2400" dirty="0"/>
              <a:t>a </a:t>
            </a:r>
            <a:r>
              <a:rPr lang="cs-CZ" sz="2400" b="1" dirty="0"/>
              <a:t>Jižní Čechy </a:t>
            </a:r>
            <a:r>
              <a:rPr lang="cs-CZ" sz="2400" dirty="0"/>
              <a:t>nicméně splnili nad rámec své regionální cíle</a:t>
            </a:r>
          </a:p>
          <a:p>
            <a:r>
              <a:rPr lang="cs-CZ" sz="2400" dirty="0"/>
              <a:t>V </a:t>
            </a:r>
            <a:r>
              <a:rPr lang="cs-CZ" sz="2400" b="1" dirty="0"/>
              <a:t>ostatních regionech </a:t>
            </a:r>
            <a:r>
              <a:rPr lang="cs-CZ" sz="2400" dirty="0"/>
              <a:t>zbývaly ke splnění jen malé počty prodaných karet</a:t>
            </a: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9FCEF76E-7907-050D-D1D9-54530B937301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ACAFC2CA-29E1-F050-233E-698BE99A617E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Podnadpis 2">
            <a:extLst>
              <a:ext uri="{FF2B5EF4-FFF2-40B4-BE49-F238E27FC236}">
                <a16:creationId xmlns:a16="http://schemas.microsoft.com/office/drawing/2014/main" id="{E8B4BF2F-D685-FFD7-AD19-D55C10D1DC5B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 err="1">
                <a:solidFill>
                  <a:schemeClr val="dk1"/>
                </a:solidFill>
              </a:rPr>
              <a:t>Radílek</a:t>
            </a:r>
            <a:r>
              <a:rPr lang="cs-CZ" sz="1600" dirty="0">
                <a:solidFill>
                  <a:schemeClr val="dk1"/>
                </a:solidFill>
              </a:rPr>
              <a:t> s.r.o.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983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64BDF-880C-E1A6-828D-A846B18B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cs-CZ" sz="5400" b="1" dirty="0">
                <a:solidFill>
                  <a:srgbClr val="444444"/>
                </a:solidFill>
              </a:rPr>
              <a:t>Děkuji za pozornost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30854EB-EDDA-FFA7-9996-854BF6244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47786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cs-CZ" sz="2580" dirty="0">
                <a:solidFill>
                  <a:srgbClr val="002060"/>
                </a:solidFill>
              </a:rPr>
              <a:t>Dotazy zodpoví </a:t>
            </a:r>
            <a:r>
              <a:rPr lang="cs-CZ" sz="2580" dirty="0" err="1">
                <a:solidFill>
                  <a:srgbClr val="002060"/>
                </a:solidFill>
              </a:rPr>
              <a:t>xxx</a:t>
            </a:r>
            <a:r>
              <a:rPr lang="cs-CZ" sz="2580" dirty="0">
                <a:solidFill>
                  <a:srgbClr val="002060"/>
                </a:solidFill>
              </a:rPr>
              <a:t> (xxx@radilek.cz)</a:t>
            </a:r>
            <a:endParaRPr lang="en-US" sz="2580" dirty="0">
              <a:solidFill>
                <a:srgbClr val="002060"/>
              </a:solidFill>
            </a:endParaRP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8CBBEF4D-E1CA-4EE7-CDED-C446A3F60FD8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6C65B5F1-7C18-DDBB-2C05-D54379EF1A4A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Podnadpis 2">
            <a:extLst>
              <a:ext uri="{FF2B5EF4-FFF2-40B4-BE49-F238E27FC236}">
                <a16:creationId xmlns:a16="http://schemas.microsoft.com/office/drawing/2014/main" id="{6E019003-5724-7864-B5DA-41A0D6479B7F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 err="1">
                <a:solidFill>
                  <a:schemeClr val="dk1"/>
                </a:solidFill>
              </a:rPr>
              <a:t>Radílek</a:t>
            </a:r>
            <a:r>
              <a:rPr lang="cs-CZ" sz="1600" dirty="0">
                <a:solidFill>
                  <a:schemeClr val="dk1"/>
                </a:solidFill>
              </a:rPr>
              <a:t> s.r.o.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74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186</Words>
  <Application>Microsoft Office PowerPoint</Application>
  <PresentationFormat>Širokoúhlá obrazovka</PresentationFormat>
  <Paragraphs>53</Paragraphs>
  <Slides>5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Motiv Office</vt:lpstr>
      <vt:lpstr>Výsledky prodeje kreditních karet</vt:lpstr>
      <vt:lpstr>Výsledky</vt:lpstr>
      <vt:lpstr>Výsledky dle regionů</vt:lpstr>
      <vt:lpstr>Závěr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Reactu</dc:title>
  <dc:creator>Ondřej Švorc</dc:creator>
  <cp:lastModifiedBy>Ondřej Švorc</cp:lastModifiedBy>
  <cp:revision>1495</cp:revision>
  <dcterms:created xsi:type="dcterms:W3CDTF">2024-03-27T11:04:38Z</dcterms:created>
  <dcterms:modified xsi:type="dcterms:W3CDTF">2025-11-19T22:54:10Z</dcterms:modified>
</cp:coreProperties>
</file>
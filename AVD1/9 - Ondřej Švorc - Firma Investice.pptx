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310" r:id="rId3"/>
    <p:sldId id="283" r:id="rId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0000"/>
    <a:srgbClr val="002060"/>
    <a:srgbClr val="444444"/>
    <a:srgbClr val="8599AA"/>
    <a:srgbClr val="525252"/>
    <a:srgbClr val="007BC6"/>
    <a:srgbClr val="00D8FF"/>
    <a:srgbClr val="7CC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32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DF9F60-53EA-4412-ACEA-357B39441279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29358D-C246-4F88-A2A0-85E0F35EE27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13253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9358D-C246-4F88-A2A0-85E0F35EE278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7964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5D2F83-4F94-8D62-923A-EDC7EA2F5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A6E4563-0F88-9A10-298A-3F3B8415C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21C72F7-0C28-D971-C6A5-2B31DC297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96D3C51-1176-E43C-8FED-8239F77F8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49C466E-BED5-CEF2-75E6-F8389DE8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1192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CF043E-44B8-5AFF-A6FD-B95F96FD9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364E962-EF0B-C90E-5AF8-8FA210936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BA8010A-2B16-DF6C-B799-4064E14BF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58E3783-F327-C756-C62C-96749826F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6A81A5-1612-835C-2A8C-E3B291AFB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621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6F0363-0E39-33E3-EA94-35CED901B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65D2DDF-C678-B899-D835-7EC47FCC6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58D2250-F1E3-51FC-12AA-A246A5A4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692BC04-E114-E58D-5C5C-9A293D01C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A01D2F6-1583-B09F-88B5-7B6692015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152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D9C6BE-B170-98AC-FB14-F032C9AB3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EBC99F-7BA7-FB7E-EF56-991DB6C7FD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C34ADCF-2558-6C1D-86C5-A796F4937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76A04AD-5541-922C-9358-6EE84682A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67E8C79-65ED-9208-30DC-E362924A4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2E3249C-35FA-FA80-2B84-45E9920A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2059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4B06D0-975A-0029-4947-9029835AE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3080222-9087-ABFF-1657-5342EB8AB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0BD95C1-12BC-BE87-2C3A-974C8E352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AE6B7B1-EE37-4CEA-A110-64E092E37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F17BCF43-EA0D-4AF9-4948-D1464F20B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FF30722-19A0-38D5-6DE5-1A128324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A202AA4A-6DB3-39A0-FEA5-D69A3148B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1C6AC10-505F-2A84-F11B-EFF7B3C23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6636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45AFAB-CCED-4D1C-CC13-F2C480687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726AEA9B-7511-B147-B369-8A40241C7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B0282F3-91CC-2C6E-E41C-64D1CECFD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F347761-BCA9-0661-253B-5689FE35B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50868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1EC6687-C807-98DB-7C7F-A5EDF45B3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338BE7B-0887-5817-7D45-636B1BF4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C47D35E-0D51-E273-F079-69D6DE0A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6299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647D8D-E162-BF8D-4C7C-90A78565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AF57D60-7CA2-CC9B-268D-127231CA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C1E5317-A052-EFB8-39EB-35A8CCD6A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094D8A9-FEDA-A447-07C5-000DE60E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B71FB37-D330-9994-06DA-70F4830A4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6FF09A2-3076-B555-6E4B-C6B7477B9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5714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F38E1F-551A-DAAB-C70E-88B150430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58A2F87F-5087-5850-16BD-C1991DA8BE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0B92D89-F193-8C40-9CB0-EC4283D2F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0E2EE6D-BCCF-51F2-1F3F-EB56768AF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5E28C61-44A8-F925-A698-DA41342F4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8A43E1D-3A47-CC98-1700-3F80F1B02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5004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B2A1CF-72F0-D455-896D-B696A00BB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F0FC423-71FA-E854-A315-B28B5ACB1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91EA907-B33A-1F7F-9F94-34CB5E77F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F478A4C-8715-3AE9-ACE5-8A7BC9E1C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D4D400E-DB9A-A767-5323-0261A34B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6652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5532F133-0F82-0C45-7D51-F5254499BD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734FFD8-6C66-8350-C3E1-D5EAC346C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D764339-C9EA-6E67-7A23-3C96D2721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10CBD-A3AC-4517-8E4F-B541DD49A688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3BAD5CF-93B2-0960-9245-5BBFB7E88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0FFC531-06B6-D3C5-69FA-3BE5A3148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42915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68F6B85C-9E22-84E7-C78E-C7FFEC919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AA7AE8E-D7C3-FE53-E8A3-AA487D4EA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94FFAC3-FBD0-19AA-06D8-E8988ACC0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10CBD-A3AC-4517-8E4F-B541DD49A688}" type="datetimeFigureOut">
              <a:rPr lang="cs-CZ" smtClean="0"/>
              <a:t>27.11.2025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F3E77D4-F934-B7A3-1241-630FECEEED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8950E02-DA7F-51E0-E1A3-586490F66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714430-220C-49AB-AF58-C569EB803C0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93105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264BDF-880C-E1A6-828D-A846B18B7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cs-CZ" sz="4400" b="1" dirty="0">
                <a:solidFill>
                  <a:srgbClr val="444444"/>
                </a:solidFill>
              </a:rPr>
              <a:t>Výsledky prodeje investic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30854EB-EDDA-FFA7-9996-854BF6244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9902" y="3447786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cs-CZ" sz="2350" dirty="0">
                <a:solidFill>
                  <a:srgbClr val="002060"/>
                </a:solidFill>
              </a:rPr>
              <a:t>za měsíc říjen 2025</a:t>
            </a:r>
            <a:endParaRPr lang="en-US" sz="2350" dirty="0">
              <a:solidFill>
                <a:srgbClr val="002060"/>
              </a:solidFill>
            </a:endParaRP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8CBBEF4D-E1CA-4EE7-CDED-C446A3F60FD8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6C65B5F1-7C18-DDBB-2C05-D54379EF1A4A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Podnadpis 2">
            <a:extLst>
              <a:ext uri="{FF2B5EF4-FFF2-40B4-BE49-F238E27FC236}">
                <a16:creationId xmlns:a16="http://schemas.microsoft.com/office/drawing/2014/main" id="{0C94C480-46BE-61C0-519F-45DF2CCE0870}"/>
              </a:ext>
            </a:extLst>
          </p:cNvPr>
          <p:cNvSpPr txBox="1">
            <a:spLocks/>
          </p:cNvSpPr>
          <p:nvPr/>
        </p:nvSpPr>
        <p:spPr>
          <a:xfrm>
            <a:off x="7577594" y="6295679"/>
            <a:ext cx="4552368" cy="319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600" dirty="0"/>
              <a:t>Investice s.r.o.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048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35782-C6D9-2D2B-12EC-7F0F55EE9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B5202F-2962-EFFC-722F-14A6BA842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rgbClr val="444444"/>
                </a:solidFill>
              </a:rPr>
              <a:t>Výsledky prodejů dle regionů </a:t>
            </a:r>
            <a:endParaRPr lang="cs-CZ" b="1" dirty="0"/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5B98B40F-9422-2E70-1C5F-5645A32F5A4A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4BDCD721-F5D1-6C11-ADE6-6B2566A463B5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Podnadpis 2">
            <a:extLst>
              <a:ext uri="{FF2B5EF4-FFF2-40B4-BE49-F238E27FC236}">
                <a16:creationId xmlns:a16="http://schemas.microsoft.com/office/drawing/2014/main" id="{2F71AAA8-C507-FAD8-1D69-5E17D4DC8F80}"/>
              </a:ext>
            </a:extLst>
          </p:cNvPr>
          <p:cNvSpPr txBox="1">
            <a:spLocks/>
          </p:cNvSpPr>
          <p:nvPr/>
        </p:nvSpPr>
        <p:spPr>
          <a:xfrm>
            <a:off x="7577594" y="6295679"/>
            <a:ext cx="4552368" cy="319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600" dirty="0"/>
              <a:t>Investice s.r.o.</a:t>
            </a:r>
            <a:endParaRPr lang="en-US" sz="1600" dirty="0">
              <a:solidFill>
                <a:srgbClr val="002060"/>
              </a:solidFill>
            </a:endParaRPr>
          </a:p>
        </p:txBody>
      </p:sp>
      <p:graphicFrame>
        <p:nvGraphicFramePr>
          <p:cNvPr id="10" name="Tabulka 9">
            <a:extLst>
              <a:ext uri="{FF2B5EF4-FFF2-40B4-BE49-F238E27FC236}">
                <a16:creationId xmlns:a16="http://schemas.microsoft.com/office/drawing/2014/main" id="{EF8FB4E2-0299-53CB-49C8-6BA5C7995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322710"/>
              </p:ext>
            </p:extLst>
          </p:nvPr>
        </p:nvGraphicFramePr>
        <p:xfrm>
          <a:off x="983912" y="1772336"/>
          <a:ext cx="4996194" cy="1854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92684">
                  <a:extLst>
                    <a:ext uri="{9D8B030D-6E8A-4147-A177-3AD203B41FA5}">
                      <a16:colId xmlns:a16="http://schemas.microsoft.com/office/drawing/2014/main" val="3679451786"/>
                    </a:ext>
                  </a:extLst>
                </a:gridCol>
                <a:gridCol w="1985065">
                  <a:extLst>
                    <a:ext uri="{9D8B030D-6E8A-4147-A177-3AD203B41FA5}">
                      <a16:colId xmlns:a16="http://schemas.microsoft.com/office/drawing/2014/main" val="3201273136"/>
                    </a:ext>
                  </a:extLst>
                </a:gridCol>
                <a:gridCol w="1818445">
                  <a:extLst>
                    <a:ext uri="{9D8B030D-6E8A-4147-A177-3AD203B41FA5}">
                      <a16:colId xmlns:a16="http://schemas.microsoft.com/office/drawing/2014/main" val="2798154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cs-CZ" sz="1600" dirty="0"/>
                        <a:t>Region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/>
                        <a:t>Skutečnost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cs-CZ" sz="1600" dirty="0"/>
                        <a:t>Plán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53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sz="1600" dirty="0"/>
                        <a:t>Čechy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u="none" strike="noStrike" dirty="0">
                          <a:solidFill>
                            <a:srgbClr val="8E0000"/>
                          </a:solidFill>
                          <a:effectLst/>
                        </a:rPr>
                        <a:t>61 500 000 Kč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cs-CZ" sz="1600" u="none" strike="noStrike" dirty="0">
                          <a:effectLst/>
                        </a:rPr>
                        <a:t>75 000 000 Kč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995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sz="1600" b="0" dirty="0"/>
                        <a:t>Morava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600" u="none" strike="noStrike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85 050 000 Kč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600" u="none" strike="noStrike" dirty="0">
                          <a:effectLst/>
                        </a:rPr>
                        <a:t>80 000 000 Kč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538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sz="1600" b="0" dirty="0"/>
                        <a:t>Praha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600" u="none" strike="noStrike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104 100 000 Kč </a:t>
                      </a:r>
                      <a:endParaRPr lang="cs-CZ" sz="1600" b="0" i="0" u="none" strike="noStrike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cs-CZ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100 000 000 Kč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242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cs-CZ" sz="1600" b="1" dirty="0"/>
                        <a:t>Celkem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600" b="1" dirty="0"/>
                        <a:t>250 650 000 Kč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600" b="1" dirty="0"/>
                        <a:t>255 000 000 Kč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772050"/>
                  </a:ext>
                </a:extLst>
              </a:tr>
            </a:tbl>
          </a:graphicData>
        </a:graphic>
      </p:graphicFrame>
      <p:cxnSp>
        <p:nvCxnSpPr>
          <p:cNvPr id="16" name="Přímá spojnice 15">
            <a:extLst>
              <a:ext uri="{FF2B5EF4-FFF2-40B4-BE49-F238E27FC236}">
                <a16:creationId xmlns:a16="http://schemas.microsoft.com/office/drawing/2014/main" id="{712D090D-5676-C694-FF7D-1274DA871658}"/>
              </a:ext>
            </a:extLst>
          </p:cNvPr>
          <p:cNvCxnSpPr>
            <a:cxnSpLocks/>
          </p:cNvCxnSpPr>
          <p:nvPr/>
        </p:nvCxnSpPr>
        <p:spPr>
          <a:xfrm>
            <a:off x="987087" y="3255777"/>
            <a:ext cx="4993019" cy="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ovéPole 6">
            <a:extLst>
              <a:ext uri="{FF2B5EF4-FFF2-40B4-BE49-F238E27FC236}">
                <a16:creationId xmlns:a16="http://schemas.microsoft.com/office/drawing/2014/main" id="{C82E4E78-1DD4-897E-2E3E-961DAD8B9D66}"/>
              </a:ext>
            </a:extLst>
          </p:cNvPr>
          <p:cNvSpPr txBox="1"/>
          <p:nvPr/>
        </p:nvSpPr>
        <p:spPr>
          <a:xfrm>
            <a:off x="855656" y="4100005"/>
            <a:ext cx="10248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cs-CZ" sz="2000" i="1" dirty="0">
                <a:solidFill>
                  <a:srgbClr val="444444"/>
                </a:solidFill>
              </a:rPr>
              <a:t>Region Čechy byl pár jednotek milionů Kč pod plněním plánu. Ostatní regiony plán splnily. </a:t>
            </a:r>
          </a:p>
        </p:txBody>
      </p:sp>
    </p:spTree>
    <p:extLst>
      <p:ext uri="{BB962C8B-B14F-4D97-AF65-F5344CB8AC3E}">
        <p14:creationId xmlns:p14="http://schemas.microsoft.com/office/powerpoint/2010/main" val="4268742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264BDF-880C-E1A6-828D-A846B18B7A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cs-CZ" sz="5400" b="1" dirty="0">
                <a:solidFill>
                  <a:srgbClr val="444444"/>
                </a:solidFill>
              </a:rPr>
              <a:t>Děkuji za pozornost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30854EB-EDDA-FFA7-9996-854BF6244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47786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cs-CZ" sz="2580" dirty="0">
                <a:solidFill>
                  <a:srgbClr val="002060"/>
                </a:solidFill>
              </a:rPr>
              <a:t>Dotazy zodpoví </a:t>
            </a:r>
            <a:r>
              <a:rPr lang="cs-CZ" sz="2580" dirty="0" err="1">
                <a:solidFill>
                  <a:srgbClr val="002060"/>
                </a:solidFill>
              </a:rPr>
              <a:t>xxx</a:t>
            </a:r>
            <a:r>
              <a:rPr lang="cs-CZ" sz="2580" dirty="0">
                <a:solidFill>
                  <a:srgbClr val="002060"/>
                </a:solidFill>
              </a:rPr>
              <a:t> (xxx@investice.cz)</a:t>
            </a:r>
            <a:endParaRPr lang="en-US" sz="2580" dirty="0">
              <a:solidFill>
                <a:srgbClr val="002060"/>
              </a:solidFill>
            </a:endParaRP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8CBBEF4D-E1CA-4EE7-CDED-C446A3F60FD8}"/>
              </a:ext>
            </a:extLst>
          </p:cNvPr>
          <p:cNvSpPr/>
          <p:nvPr/>
        </p:nvSpPr>
        <p:spPr>
          <a:xfrm>
            <a:off x="0" y="-1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6C65B5F1-7C18-DDBB-2C05-D54379EF1A4A}"/>
              </a:ext>
            </a:extLst>
          </p:cNvPr>
          <p:cNvSpPr/>
          <p:nvPr/>
        </p:nvSpPr>
        <p:spPr>
          <a:xfrm>
            <a:off x="0" y="6697133"/>
            <a:ext cx="12192000" cy="1608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6" name="Podnadpis 2">
            <a:extLst>
              <a:ext uri="{FF2B5EF4-FFF2-40B4-BE49-F238E27FC236}">
                <a16:creationId xmlns:a16="http://schemas.microsoft.com/office/drawing/2014/main" id="{6E019003-5724-7864-B5DA-41A0D6479B7F}"/>
              </a:ext>
            </a:extLst>
          </p:cNvPr>
          <p:cNvSpPr txBox="1">
            <a:spLocks/>
          </p:cNvSpPr>
          <p:nvPr/>
        </p:nvSpPr>
        <p:spPr>
          <a:xfrm>
            <a:off x="7577594" y="6295679"/>
            <a:ext cx="4552368" cy="319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cs-CZ" sz="1600" dirty="0"/>
              <a:t>Investice s.r.o.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742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2520</TotalTime>
  <Words>101</Words>
  <Application>Microsoft Office PowerPoint</Application>
  <PresentationFormat>Širokoúhlá obrazovka</PresentationFormat>
  <Paragraphs>25</Paragraphs>
  <Slides>3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Motiv Office</vt:lpstr>
      <vt:lpstr>Výsledky prodeje investic</vt:lpstr>
      <vt:lpstr>Výsledky prodejů dle regionů 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Úvod do Reactu</dc:title>
  <dc:creator>Ondřej Švorc</dc:creator>
  <cp:lastModifiedBy>Ondřej Švorc</cp:lastModifiedBy>
  <cp:revision>1515</cp:revision>
  <dcterms:created xsi:type="dcterms:W3CDTF">2024-03-27T11:04:38Z</dcterms:created>
  <dcterms:modified xsi:type="dcterms:W3CDTF">2025-11-27T22:54:07Z</dcterms:modified>
</cp:coreProperties>
</file>
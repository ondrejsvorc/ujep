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96" r:id="rId3"/>
    <p:sldId id="300" r:id="rId4"/>
    <p:sldId id="299" r:id="rId5"/>
    <p:sldId id="301" r:id="rId6"/>
    <p:sldId id="307" r:id="rId7"/>
    <p:sldId id="302" r:id="rId8"/>
    <p:sldId id="303" r:id="rId9"/>
    <p:sldId id="304" r:id="rId10"/>
    <p:sldId id="305" r:id="rId11"/>
    <p:sldId id="283" r:id="rId1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4444"/>
    <a:srgbClr val="8599AA"/>
    <a:srgbClr val="525252"/>
    <a:srgbClr val="007BC6"/>
    <a:srgbClr val="00D8FF"/>
    <a:srgbClr val="7CC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DF9F60-53EA-4412-ACEA-357B39441279}" type="datetimeFigureOut">
              <a:rPr lang="cs-CZ" smtClean="0"/>
              <a:t>26.02.2026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29358D-C246-4F88-A2A0-85E0F35EE2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1325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9358D-C246-4F88-A2A0-85E0F35EE278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07964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70382-749A-A16F-40E7-821A66999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212032C0-0AE2-0F44-5F72-AB101481F8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7AC17DF0-5324-2D66-BA1C-357E6A52B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87509CE-5EAD-12BA-7591-0A0A377C45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9358D-C246-4F88-A2A0-85E0F35EE278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75288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5D2F83-4F94-8D62-923A-EDC7EA2F5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A6E4563-0F88-9A10-298A-3F3B8415C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21C72F7-0C28-D971-C6A5-2B31DC297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26.02.2026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96D3C51-1176-E43C-8FED-8239F77F8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49C466E-BED5-CEF2-75E6-F8389DE8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91192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9CF043E-44B8-5AFF-A6FD-B95F96FD9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364E962-EF0B-C90E-5AF8-8FA210936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BA8010A-2B16-DF6C-B799-4064E14BF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26.02.2026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58E3783-F327-C756-C62C-96749826F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66A81A5-1612-835C-2A8C-E3B291AFB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621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6F0363-0E39-33E3-EA94-35CED901B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65D2DDF-C678-B899-D835-7EC47FCC6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58D2250-F1E3-51FC-12AA-A246A5A40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26.02.2026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692BC04-E114-E58D-5C5C-9A293D01C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A01D2F6-1583-B09F-88B5-7B6692015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152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D9C6BE-B170-98AC-FB14-F032C9AB3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EBC99F-7BA7-FB7E-EF56-991DB6C7FD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C34ADCF-2558-6C1D-86C5-A796F4937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76A04AD-5541-922C-9358-6EE84682A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26.02.2026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67E8C79-65ED-9208-30DC-E362924A4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2E3249C-35FA-FA80-2B84-45E9920A2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2059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4B06D0-975A-0029-4947-9029835AE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3080222-9087-ABFF-1657-5342EB8AB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0BD95C1-12BC-BE87-2C3A-974C8E352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7AE6B7B1-EE37-4CEA-A110-64E092E37E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F17BCF43-EA0D-4AF9-4948-D1464F20B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FF30722-19A0-38D5-6DE5-1A1283241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26.02.2026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A202AA4A-6DB3-39A0-FEA5-D69A3148B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1C6AC10-505F-2A84-F11B-EFF7B3C23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36636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45AFAB-CCED-4D1C-CC13-F2C480687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726AEA9B-7511-B147-B369-8A40241C7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26.02.2026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B0282F3-91CC-2C6E-E41C-64D1CECFD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F347761-BCA9-0661-253B-5689FE35B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50868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81EC6687-C807-98DB-7C7F-A5EDF45B3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26.02.2026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338BE7B-0887-5817-7D45-636B1BF40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C47D35E-0D51-E273-F079-69D6DE0A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6299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647D8D-E162-BF8D-4C7C-90A78565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AF57D60-7CA2-CC9B-268D-127231CA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C1E5317-A052-EFB8-39EB-35A8CCD6A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094D8A9-FEDA-A447-07C5-000DE60E9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26.02.2026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B71FB37-D330-9994-06DA-70F4830A4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6FF09A2-3076-B555-6E4B-C6B7477B9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5714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F38E1F-551A-DAAB-C70E-88B150430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58A2F87F-5087-5850-16BD-C1991DA8BE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0B92D89-F193-8C40-9CB0-EC4283D2F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0E2EE6D-BCCF-51F2-1F3F-EB56768AF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26.02.2026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5E28C61-44A8-F925-A698-DA41342F4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8A43E1D-3A47-CC98-1700-3F80F1B02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5004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B2A1CF-72F0-D455-896D-B696A00BB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F0FC423-71FA-E854-A315-B28B5ACB1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91EA907-B33A-1F7F-9F94-34CB5E77F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26.02.2026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F478A4C-8715-3AE9-ACE5-8A7BC9E1C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D4D400E-DB9A-A767-5323-0261A34BE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76652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5532F133-0F82-0C45-7D51-F5254499BD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734FFD8-6C66-8350-C3E1-D5EAC346C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D764339-C9EA-6E67-7A23-3C96D2721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26.02.2026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3BAD5CF-93B2-0960-9245-5BBFB7E88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0FFC531-06B6-D3C5-69FA-3BE5A3148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42915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8F6B85C-9E22-84E7-C78E-C7FFEC919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AA7AE8E-D7C3-FE53-E8A3-AA487D4EA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94FFAC3-FBD0-19AA-06D8-E8988ACC0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10CBD-A3AC-4517-8E4F-B541DD49A688}" type="datetimeFigureOut">
              <a:rPr lang="cs-CZ" smtClean="0"/>
              <a:t>26.02.2026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F3E77D4-F934-B7A3-1241-630FECEEED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8950E02-DA7F-51E0-E1A3-586490F66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93105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264BDF-880C-E1A6-828D-A846B18B7A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cs-CZ" sz="5340" b="1" dirty="0">
                <a:solidFill>
                  <a:srgbClr val="444444"/>
                </a:solidFill>
              </a:rPr>
              <a:t>Otázka č. 1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30854EB-EDDA-FFA7-9996-854BF6244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9902" y="3447786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cs-CZ" sz="2350" dirty="0">
                <a:solidFill>
                  <a:srgbClr val="002060"/>
                </a:solidFill>
              </a:rPr>
              <a:t>Ondřej Švorc</a:t>
            </a:r>
            <a:endParaRPr lang="en-US" sz="2350" dirty="0">
              <a:solidFill>
                <a:srgbClr val="002060"/>
              </a:solidFill>
            </a:endParaRPr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8CBBEF4D-E1CA-4EE7-CDED-C446A3F60FD8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6C65B5F1-7C18-DDBB-2C05-D54379EF1A4A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12048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98489B-54C8-C076-F17C-2F8619DBB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444444"/>
                </a:solidFill>
              </a:rPr>
              <a:t>Otázka č. 1</a:t>
            </a:r>
            <a:endParaRPr lang="cs-CZ" b="1" dirty="0"/>
          </a:p>
        </p:txBody>
      </p:sp>
      <p:sp>
        <p:nvSpPr>
          <p:cNvPr id="13" name="Zástupný obsah 12">
            <a:extLst>
              <a:ext uri="{FF2B5EF4-FFF2-40B4-BE49-F238E27FC236}">
                <a16:creationId xmlns:a16="http://schemas.microsoft.com/office/drawing/2014/main" id="{1DB50969-9396-4DD0-D9F6-0AC8F33A2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sz="2400" dirty="0"/>
              <a:t>Základní abstraktní kolekce (jejich klasická implementace \[seznamy, slovníky], iterátory nad nimi, typické elementární operace a jejich časová složitost) a specializované abstraktní kolekce (fronta, zásobník)</a:t>
            </a:r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r>
              <a:rPr lang="cs-CZ" sz="2400" b="1" dirty="0"/>
              <a:t>Rozložení otázky</a:t>
            </a:r>
          </a:p>
          <a:p>
            <a:r>
              <a:rPr lang="cs-CZ" sz="1800" dirty="0"/>
              <a:t>Abstraktní kolekce</a:t>
            </a:r>
          </a:p>
          <a:p>
            <a:pPr lvl="1"/>
            <a:r>
              <a:rPr lang="cs-CZ" sz="1800" dirty="0"/>
              <a:t>seznam</a:t>
            </a:r>
          </a:p>
          <a:p>
            <a:pPr lvl="1"/>
            <a:r>
              <a:rPr lang="cs-CZ" sz="1800" dirty="0"/>
              <a:t>množina</a:t>
            </a:r>
          </a:p>
          <a:p>
            <a:pPr lvl="1"/>
            <a:r>
              <a:rPr lang="cs-CZ" sz="1800" dirty="0"/>
              <a:t>slovník</a:t>
            </a:r>
          </a:p>
          <a:p>
            <a:pPr lvl="1"/>
            <a:r>
              <a:rPr lang="cs-CZ" sz="1800" dirty="0"/>
              <a:t>fronta</a:t>
            </a:r>
          </a:p>
          <a:p>
            <a:pPr lvl="1"/>
            <a:r>
              <a:rPr lang="cs-CZ" sz="1800" dirty="0"/>
              <a:t>zásobník</a:t>
            </a:r>
          </a:p>
          <a:p>
            <a:r>
              <a:rPr lang="cs-CZ" sz="1800" dirty="0"/>
              <a:t>implementace abstraktních kolekcí, iterátor, elementární operace, časová složitost</a:t>
            </a:r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87615300-A797-8E0C-C710-7FCA8E5A1C64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00DA607C-663C-409C-73CE-1BAAD69CB5B7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8611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8F391-952C-D401-F78E-83309AC08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E4CFE88-F079-7FD6-9145-26B26D59A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05243"/>
            <a:ext cx="9448800" cy="2387600"/>
          </a:xfrm>
        </p:spPr>
        <p:txBody>
          <a:bodyPr>
            <a:normAutofit/>
          </a:bodyPr>
          <a:lstStyle/>
          <a:p>
            <a:pPr algn="l"/>
            <a:r>
              <a:rPr lang="cs-CZ" sz="5000" b="1" dirty="0">
                <a:solidFill>
                  <a:srgbClr val="444444"/>
                </a:solidFill>
              </a:rPr>
              <a:t>Co je to kolekce?</a:t>
            </a:r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8D7021D0-B7A3-07E9-EC12-971EFFC593C6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8B7FF5C0-9842-562B-08F4-AF6D0ECCF427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41356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79093-011A-27A7-E1B6-A263DC50C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délník 2">
            <a:extLst>
              <a:ext uri="{FF2B5EF4-FFF2-40B4-BE49-F238E27FC236}">
                <a16:creationId xmlns:a16="http://schemas.microsoft.com/office/drawing/2014/main" id="{519BD95C-1723-0F96-1D90-ED9FD0E824D8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BB6CB712-C625-80FE-9C02-2E25947AF115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5" name="Obrázek 4" descr="Obsah obrázku text, diagram, kruh, Písmo&#10;&#10;Obsah generovaný pomocí AI může být nesprávný.">
            <a:extLst>
              <a:ext uri="{FF2B5EF4-FFF2-40B4-BE49-F238E27FC236}">
                <a16:creationId xmlns:a16="http://schemas.microsoft.com/office/drawing/2014/main" id="{7F6CA8B4-79D8-FD49-C4D4-032086865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608" y="937260"/>
            <a:ext cx="7973568" cy="49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275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8B999-5BDA-586D-4408-2BCD7D6F1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CECA89-CE10-0542-5E3B-646EBA748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444444"/>
                </a:solidFill>
              </a:rPr>
              <a:t>Seznam</a:t>
            </a:r>
            <a:endParaRPr lang="cs-CZ" b="1" dirty="0"/>
          </a:p>
        </p:txBody>
      </p:sp>
      <p:sp>
        <p:nvSpPr>
          <p:cNvPr id="13" name="Zástupný obsah 12">
            <a:extLst>
              <a:ext uri="{FF2B5EF4-FFF2-40B4-BE49-F238E27FC236}">
                <a16:creationId xmlns:a16="http://schemas.microsoft.com/office/drawing/2014/main" id="{56689F07-592D-6BE8-D0A4-755628D41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je sekvenční</a:t>
            </a:r>
          </a:p>
          <a:p>
            <a:r>
              <a:rPr lang="cs-CZ" sz="2400" dirty="0"/>
              <a:t>zachovává pořadí</a:t>
            </a:r>
          </a:p>
          <a:p>
            <a:r>
              <a:rPr lang="cs-CZ" sz="2400" dirty="0"/>
              <a:t>umožňuje duplicity</a:t>
            </a:r>
          </a:p>
          <a:p>
            <a:r>
              <a:rPr lang="cs-CZ" sz="2400" dirty="0"/>
              <a:t>nevynucuje setříděnost</a:t>
            </a:r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r>
              <a:rPr lang="cs-CZ" sz="2400" b="1" dirty="0"/>
              <a:t>Implementace</a:t>
            </a:r>
          </a:p>
          <a:p>
            <a:r>
              <a:rPr lang="cs-CZ" sz="1800" dirty="0"/>
              <a:t>pole (statické, dynamické)</a:t>
            </a:r>
          </a:p>
          <a:p>
            <a:r>
              <a:rPr lang="cs-CZ" sz="1800" dirty="0"/>
              <a:t>spojový seznam (jednosměrný, obousměrný)</a:t>
            </a:r>
          </a:p>
          <a:p>
            <a:pPr marL="0" indent="0">
              <a:buNone/>
            </a:pPr>
            <a:endParaRPr lang="cs-CZ" sz="2400" b="1" dirty="0"/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endParaRPr lang="cs-CZ" sz="2400" dirty="0"/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3D0F4469-A6CB-E1CF-0F23-AE73374AF2E5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06BE5500-A421-2EC2-7C97-CBED3CC8E303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8" name="Obrázek 7" descr="Obsah obrázku text, snímek obrazovky, Písmo, Obdélník&#10;&#10;Obsah generovaný pomocí AI může být nesprávný.">
            <a:extLst>
              <a:ext uri="{FF2B5EF4-FFF2-40B4-BE49-F238E27FC236}">
                <a16:creationId xmlns:a16="http://schemas.microsoft.com/office/drawing/2014/main" id="{B02F2CEE-5521-B492-9F16-FE1C9F532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7128" y="2944368"/>
            <a:ext cx="5834250" cy="33675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2579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2D3E5-2442-9F74-E3DF-292B5E9C3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46EB21-6592-A1FB-B842-A7B296BCD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444444"/>
                </a:solidFill>
              </a:rPr>
              <a:t>Množina</a:t>
            </a:r>
            <a:endParaRPr lang="cs-CZ" b="1" dirty="0"/>
          </a:p>
        </p:txBody>
      </p:sp>
      <p:sp>
        <p:nvSpPr>
          <p:cNvPr id="13" name="Zástupný obsah 12">
            <a:extLst>
              <a:ext uri="{FF2B5EF4-FFF2-40B4-BE49-F238E27FC236}">
                <a16:creationId xmlns:a16="http://schemas.microsoft.com/office/drawing/2014/main" id="{37F05D37-6EC9-42F3-C78E-8663DECA3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unikátní prvky</a:t>
            </a:r>
          </a:p>
          <a:p>
            <a:r>
              <a:rPr lang="cs-CZ" sz="2400" dirty="0"/>
              <a:t>bez duplicit, pořadí a indexů</a:t>
            </a:r>
          </a:p>
          <a:p>
            <a:r>
              <a:rPr lang="cs-CZ" sz="2400" dirty="0"/>
              <a:t>nevynucuje setříděnost</a:t>
            </a:r>
          </a:p>
          <a:p>
            <a:r>
              <a:rPr lang="cs-CZ" sz="2400" dirty="0"/>
              <a:t>vložení/odebrání, test existence, zjištění velikosti, množinové operace</a:t>
            </a:r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r>
              <a:rPr lang="cs-CZ" sz="2400" b="1" dirty="0"/>
              <a:t>Implementace</a:t>
            </a:r>
          </a:p>
          <a:p>
            <a:r>
              <a:rPr lang="cs-CZ" sz="1800" dirty="0"/>
              <a:t>hashovací množina (</a:t>
            </a:r>
            <a:r>
              <a:rPr lang="cs-CZ" sz="1800" dirty="0" err="1"/>
              <a:t>HashSet</a:t>
            </a:r>
            <a:r>
              <a:rPr lang="cs-CZ" sz="1800" dirty="0"/>
              <a:t>) - interně využívá hashovací tabulku</a:t>
            </a:r>
          </a:p>
          <a:p>
            <a:r>
              <a:rPr lang="cs-CZ" sz="1800" dirty="0"/>
              <a:t>stromová množina (</a:t>
            </a:r>
            <a:r>
              <a:rPr lang="cs-CZ" sz="1800" dirty="0" err="1"/>
              <a:t>TreeSet</a:t>
            </a:r>
            <a:r>
              <a:rPr lang="cs-CZ" sz="1800" dirty="0"/>
              <a:t>) - interně využívá vyvážený strom</a:t>
            </a:r>
          </a:p>
          <a:p>
            <a:pPr marL="0" indent="0">
              <a:buNone/>
            </a:pPr>
            <a:endParaRPr lang="cs-CZ" sz="2400" b="1" dirty="0"/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endParaRPr lang="cs-CZ" sz="2400" dirty="0"/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E0587E24-F8F7-DA53-A232-207CCDDB63E5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79C4C447-B642-4953-A85A-F8D26E08CE77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9256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52357-74AF-4B15-A3AA-78641AC8B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0CFB0A-6845-3A49-37C6-FC97763A9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444444"/>
                </a:solidFill>
              </a:rPr>
              <a:t>Slovník</a:t>
            </a:r>
            <a:endParaRPr lang="cs-CZ" b="1" dirty="0"/>
          </a:p>
        </p:txBody>
      </p:sp>
      <p:sp>
        <p:nvSpPr>
          <p:cNvPr id="13" name="Zástupný obsah 12">
            <a:extLst>
              <a:ext uri="{FF2B5EF4-FFF2-40B4-BE49-F238E27FC236}">
                <a16:creationId xmlns:a16="http://schemas.microsoft.com/office/drawing/2014/main" id="{8B59BFAE-645D-6AD1-54B5-3E6ACF0DB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synonyma: mapa, asociativní pole</a:t>
            </a:r>
          </a:p>
          <a:p>
            <a:r>
              <a:rPr lang="cs-CZ" sz="2400" dirty="0"/>
              <a:t>definuje množinu dvojic (klíč </a:t>
            </a:r>
            <a:r>
              <a:rPr lang="cs-CZ" sz="2400" b="1" dirty="0"/>
              <a:t>→</a:t>
            </a:r>
            <a:r>
              <a:rPr lang="cs-CZ" sz="2400" dirty="0"/>
              <a:t> hodnota)</a:t>
            </a:r>
          </a:p>
          <a:p>
            <a:r>
              <a:rPr lang="cs-CZ" sz="2400" dirty="0"/>
              <a:t>klíče jsou unikátní</a:t>
            </a:r>
          </a:p>
          <a:p>
            <a:r>
              <a:rPr lang="cs-CZ" sz="2400" dirty="0"/>
              <a:t>hodnoty se mohou opakovat</a:t>
            </a:r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r>
              <a:rPr lang="cs-CZ" sz="2400" b="1" dirty="0"/>
              <a:t>Implementace</a:t>
            </a:r>
          </a:p>
          <a:p>
            <a:r>
              <a:rPr lang="cs-CZ" sz="1800" dirty="0"/>
              <a:t>hashovací tabulka</a:t>
            </a:r>
          </a:p>
          <a:p>
            <a:r>
              <a:rPr lang="cs-CZ" sz="1800" dirty="0"/>
              <a:t>binární vyhledávací strom</a:t>
            </a:r>
          </a:p>
          <a:p>
            <a:pPr marL="0" indent="0">
              <a:buNone/>
            </a:pPr>
            <a:endParaRPr lang="cs-CZ" sz="2400" b="1" dirty="0"/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endParaRPr lang="cs-CZ" sz="2400" dirty="0"/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712698F8-CCFE-C9F7-4ED5-690CEA58CE9B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CA33DA76-469B-D8AC-E768-DE9B1CFD5828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176F4DE0-A1C2-03EB-53E1-455FCE75F6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77128" y="3169571"/>
            <a:ext cx="5834250" cy="29171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2742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91D66-8D39-4A2A-7FAA-7BCACAB97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93BF915-B800-B0D2-9588-C2E2364A6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444444"/>
                </a:solidFill>
              </a:rPr>
              <a:t>Fronta</a:t>
            </a:r>
            <a:endParaRPr lang="cs-CZ" b="1" dirty="0"/>
          </a:p>
        </p:txBody>
      </p:sp>
      <p:sp>
        <p:nvSpPr>
          <p:cNvPr id="13" name="Zástupný obsah 12">
            <a:extLst>
              <a:ext uri="{FF2B5EF4-FFF2-40B4-BE49-F238E27FC236}">
                <a16:creationId xmlns:a16="http://schemas.microsoft.com/office/drawing/2014/main" id="{EF70D10A-798C-BB5E-822A-8546B19FD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FIFO (First-In-First-Out)</a:t>
            </a:r>
          </a:p>
          <a:p>
            <a:r>
              <a:rPr lang="cs-CZ" sz="2400" dirty="0"/>
              <a:t>první dovnitř, první ven</a:t>
            </a:r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r>
              <a:rPr lang="cs-CZ" sz="2400" b="1" dirty="0"/>
              <a:t>Implementace</a:t>
            </a:r>
          </a:p>
          <a:p>
            <a:r>
              <a:rPr lang="cs-CZ" sz="1800" dirty="0"/>
              <a:t>kruhové pole (circular array)</a:t>
            </a:r>
          </a:p>
          <a:p>
            <a:r>
              <a:rPr lang="pl-PL" sz="1800" dirty="0"/>
              <a:t>spojový seznam s ukazatelem na začátek i konec</a:t>
            </a:r>
          </a:p>
          <a:p>
            <a:r>
              <a:rPr lang="pl-PL" sz="1800" dirty="0"/>
              <a:t>dynamické pole (méně vhodné, dequeue O(n))</a:t>
            </a:r>
          </a:p>
          <a:p>
            <a:pPr marL="0" indent="0">
              <a:buNone/>
            </a:pPr>
            <a:endParaRPr lang="cs-CZ" sz="2400" b="1" dirty="0"/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endParaRPr lang="cs-CZ" sz="2400" dirty="0"/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9B758D63-CDDC-AD43-1607-FA837D727650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8EC836E0-8F62-29FF-B83B-BD1E196B5042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B89F64A3-69FB-68E2-635A-519805FF2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00800" y="3388355"/>
            <a:ext cx="5410578" cy="24795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50025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4B8DC-9C05-734F-A88F-B1433B50B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92F1A6-2873-C139-A042-EA3AB68BF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444444"/>
                </a:solidFill>
              </a:rPr>
              <a:t>Zásobník</a:t>
            </a:r>
            <a:endParaRPr lang="cs-CZ" b="1" dirty="0"/>
          </a:p>
        </p:txBody>
      </p:sp>
      <p:sp>
        <p:nvSpPr>
          <p:cNvPr id="13" name="Zástupný obsah 12">
            <a:extLst>
              <a:ext uri="{FF2B5EF4-FFF2-40B4-BE49-F238E27FC236}">
                <a16:creationId xmlns:a16="http://schemas.microsoft.com/office/drawing/2014/main" id="{E4EC59F5-AA68-92AF-D408-B4E7E79F4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LIFO (Last-In-First-Out)</a:t>
            </a:r>
          </a:p>
          <a:p>
            <a:r>
              <a:rPr lang="cs-CZ" sz="2400" dirty="0"/>
              <a:t>poslední dovnitř, první ven</a:t>
            </a:r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r>
              <a:rPr lang="cs-CZ" sz="2400" b="1" dirty="0"/>
              <a:t>Implementace</a:t>
            </a:r>
          </a:p>
          <a:p>
            <a:r>
              <a:rPr lang="cs-CZ" sz="1800" dirty="0"/>
              <a:t>dynamické pole</a:t>
            </a:r>
          </a:p>
          <a:p>
            <a:r>
              <a:rPr lang="cs-CZ" sz="1800" dirty="0"/>
              <a:t>jednosměrný spojový seznam</a:t>
            </a:r>
          </a:p>
          <a:p>
            <a:pPr marL="0" indent="0">
              <a:buNone/>
            </a:pPr>
            <a:endParaRPr lang="cs-CZ" sz="2400" b="1" dirty="0"/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endParaRPr lang="cs-CZ" sz="2400" dirty="0"/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AD1F6B56-4C75-F9FD-9B6F-84875D9A5905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48E493C0-2AC5-7235-793B-781220637589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F6057D1B-07F7-BFCC-8ED3-607E6E94B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5050" y="3388355"/>
            <a:ext cx="4438405" cy="24795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0628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1BAD5-FF45-8AF3-20B5-4FAF638C8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A400A6-4C97-E7AD-7897-31FB3DA39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444444"/>
                </a:solidFill>
              </a:rPr>
              <a:t>Iterátor</a:t>
            </a:r>
            <a:endParaRPr lang="cs-CZ" b="1" dirty="0"/>
          </a:p>
        </p:txBody>
      </p:sp>
      <p:sp>
        <p:nvSpPr>
          <p:cNvPr id="13" name="Zástupný obsah 12">
            <a:extLst>
              <a:ext uri="{FF2B5EF4-FFF2-40B4-BE49-F238E27FC236}">
                <a16:creationId xmlns:a16="http://schemas.microsoft.com/office/drawing/2014/main" id="{F74A85A1-FA69-3FAE-FCD7-5078A8931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objekt pro </a:t>
            </a:r>
            <a:r>
              <a:rPr lang="en-US" sz="2400" dirty="0"/>
              <a:t>průchod kolekcí bez </a:t>
            </a:r>
            <a:r>
              <a:rPr lang="en-US" sz="2400" dirty="0" err="1"/>
              <a:t>znalosti</a:t>
            </a:r>
            <a:r>
              <a:rPr lang="en-US" sz="2400" dirty="0"/>
              <a:t> </a:t>
            </a:r>
            <a:r>
              <a:rPr lang="en-US" sz="2400" dirty="0" err="1"/>
              <a:t>její</a:t>
            </a:r>
            <a:r>
              <a:rPr lang="en-US" sz="2400" dirty="0"/>
              <a:t> </a:t>
            </a:r>
            <a:r>
              <a:rPr lang="en-US" sz="2400" dirty="0" err="1"/>
              <a:t>vnitřní</a:t>
            </a:r>
            <a:r>
              <a:rPr lang="en-US" sz="2400" dirty="0"/>
              <a:t> </a:t>
            </a:r>
            <a:r>
              <a:rPr lang="en-US" sz="2400" dirty="0" err="1"/>
              <a:t>implementace</a:t>
            </a:r>
            <a:endParaRPr lang="cs-CZ" sz="2400" dirty="0"/>
          </a:p>
          <a:p>
            <a:r>
              <a:rPr lang="pl-PL" sz="2400" dirty="0"/>
              <a:t>odděluje algoritmus procházení prvků od struktury dat</a:t>
            </a:r>
          </a:p>
          <a:p>
            <a:r>
              <a:rPr lang="pl-PL" sz="2400" dirty="0"/>
              <a:t>udržuje si vlastní stav průchodu</a:t>
            </a:r>
          </a:p>
          <a:p>
            <a:r>
              <a:rPr lang="pl-PL" sz="2400" dirty="0"/>
              <a:t>je jednorázový</a:t>
            </a:r>
            <a:endParaRPr lang="cs-CZ" sz="2400" b="1" dirty="0"/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endParaRPr lang="cs-CZ" sz="2400" dirty="0"/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02D1AE3C-B36E-2048-D5EF-169599398C25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067E09F3-68C3-B0A5-6B14-4DE2065502D8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4A0BB314-8534-C7E3-4360-990A9B425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18364" y="3227831"/>
            <a:ext cx="5898263" cy="29491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9721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264BDF-880C-E1A6-828D-A846B18B7A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cs-CZ" sz="5400" b="1" dirty="0">
                <a:solidFill>
                  <a:srgbClr val="444444"/>
                </a:solidFill>
              </a:rPr>
              <a:t>Děkuji za pozornost</a:t>
            </a:r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8CBBEF4D-E1CA-4EE7-CDED-C446A3F60FD8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6C65B5F1-7C18-DDBB-2C05-D54379EF1A4A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4742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2460</TotalTime>
  <Words>244</Words>
  <Application>Microsoft Office PowerPoint</Application>
  <PresentationFormat>Širokoúhlá obrazovka</PresentationFormat>
  <Paragraphs>69</Paragraphs>
  <Slides>11</Slides>
  <Notes>2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Motiv Office</vt:lpstr>
      <vt:lpstr>Otázka č. 1</vt:lpstr>
      <vt:lpstr>Otázka č. 1</vt:lpstr>
      <vt:lpstr>Co je to kolekce?</vt:lpstr>
      <vt:lpstr>Prezentace aplikace PowerPoint</vt:lpstr>
      <vt:lpstr>Seznam</vt:lpstr>
      <vt:lpstr>Množina</vt:lpstr>
      <vt:lpstr>Slovník</vt:lpstr>
      <vt:lpstr>Fronta</vt:lpstr>
      <vt:lpstr>Zásobník</vt:lpstr>
      <vt:lpstr>Iterátor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Úvod do Reactu</dc:title>
  <dc:creator>Ondřej Švorc</dc:creator>
  <cp:lastModifiedBy>Ondřej Švorc</cp:lastModifiedBy>
  <cp:revision>1600</cp:revision>
  <dcterms:created xsi:type="dcterms:W3CDTF">2024-03-27T11:04:38Z</dcterms:created>
  <dcterms:modified xsi:type="dcterms:W3CDTF">2026-02-26T10:14:07Z</dcterms:modified>
</cp:coreProperties>
</file>
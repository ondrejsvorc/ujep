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97" r:id="rId3"/>
    <p:sldId id="296" r:id="rId4"/>
    <p:sldId id="283" r:id="rId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8599AA"/>
    <a:srgbClr val="525252"/>
    <a:srgbClr val="007BC6"/>
    <a:srgbClr val="00D8FF"/>
    <a:srgbClr val="7CC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F9F60-53EA-4412-ACEA-357B39441279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9358D-C246-4F88-A2A0-85E0F35EE2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325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9358D-C246-4F88-A2A0-85E0F35EE27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796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5D2F83-4F94-8D62-923A-EDC7EA2F5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6E4563-0F88-9A10-298A-3F3B8415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1C72F7-0C28-D971-C6A5-2B31DC29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6D3C51-1176-E43C-8FED-8239F77F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9C466E-BED5-CEF2-75E6-F8389DE8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19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CF043E-44B8-5AFF-A6FD-B95F96FD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64E962-EF0B-C90E-5AF8-8FA21093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A8010A-2B16-DF6C-B799-4064E14B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8E3783-F327-C756-C62C-96749826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6A81A5-1612-835C-2A8C-E3B291A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21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F0363-0E39-33E3-EA94-35CED901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5D2DDF-C678-B899-D835-7EC47FCC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8D2250-F1E3-51FC-12AA-A246A5A4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92BC04-E114-E58D-5C5C-9A293D01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01D2F6-1583-B09F-88B5-7B66920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152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D9C6BE-B170-98AC-FB14-F032C9AB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EBC99F-7BA7-FB7E-EF56-991DB6C7F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34ADCF-2558-6C1D-86C5-A796F4937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76A04AD-5541-922C-9358-6EE84682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E8C79-65ED-9208-30DC-E362924A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2E3249C-35FA-FA80-2B84-45E9920A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5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4B06D0-975A-0029-4947-9029835A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080222-9087-ABFF-1657-5342EB8A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BD95C1-12BC-BE87-2C3A-974C8E35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AE6B7B1-EE37-4CEA-A110-64E092E3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17BCF43-EA0D-4AF9-4948-D1464F20B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FF30722-19A0-38D5-6DE5-1A12832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202AA4A-6DB3-39A0-FEA5-D69A3148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C6AC10-505F-2A84-F11B-EFF7B3C2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6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45AFAB-CCED-4D1C-CC13-F2C48068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26AEA9B-7511-B147-B369-8A40241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B0282F3-91CC-2C6E-E41C-64D1CECF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F347761-BCA9-0661-253B-5689FE35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8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1EC6687-C807-98DB-7C7F-A5EDF45B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338BE7B-0887-5817-7D45-636B1BF4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C47D35E-0D51-E273-F079-69D6DE0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29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47D8D-E162-BF8D-4C7C-90A78565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F57D60-7CA2-CC9B-268D-127231CA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C1E5317-A052-EFB8-39EB-35A8CCD6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94D8A9-FEDA-A447-07C5-000DE60E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71FB37-D330-9994-06DA-70F4830A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6FF09A2-3076-B555-6E4B-C6B7477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71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38E1F-551A-DAAB-C70E-88B15043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8A2F87F-5087-5850-16BD-C1991DA8B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0B92D89-F193-8C40-9CB0-EC4283D2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E2EE6D-BCCF-51F2-1F3F-EB56768A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E28C61-44A8-F925-A698-DA41342F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8A43E1D-3A47-CC98-1700-3F80F1B0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00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B2A1CF-72F0-D455-896D-B696A00B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F0FC423-71FA-E854-A315-B28B5ACB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EA907-B33A-1F7F-9F94-34CB5E77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478A4C-8715-3AE9-ACE5-8A7BC9E1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4D400E-DB9A-A767-5323-0261A34B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65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532F133-0F82-0C45-7D51-F5254499B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34FFD8-6C66-8350-C3E1-D5EAC346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764339-C9EA-6E67-7A23-3C96D272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BAD5CF-93B2-0960-9245-5BBFB7E8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FFC531-06B6-D3C5-69FA-3BE5A314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91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8F6B85C-9E22-84E7-C78E-C7FFEC91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A7AE8E-D7C3-FE53-E8A3-AA487D4EA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4FFAC3-FBD0-19AA-06D8-E8988ACC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77D4-F934-B7A3-1241-630FECEEE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950E02-DA7F-51E0-E1A3-586490F6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10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340" b="1" dirty="0">
                <a:solidFill>
                  <a:srgbClr val="444444"/>
                </a:solidFill>
              </a:rPr>
              <a:t>Výsledky prodeje SG III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902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350" dirty="0">
                <a:solidFill>
                  <a:srgbClr val="002060"/>
                </a:solidFill>
              </a:rPr>
              <a:t>září 2025</a:t>
            </a:r>
            <a:endParaRPr lang="en-US" sz="235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id="{0C94C480-46BE-61C0-519F-45DF2CCE0870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Vypracováno 5. 10. 2025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04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26DF-3556-0858-B5B2-E33ECF37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4E2E40-2094-7110-755A-FE01D2C1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Prodeje SG III dle regionu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FAC98F99-C40C-AC63-F8AC-E39007711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2400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i="1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i="1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i="1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i="1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i="1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i="1" dirty="0">
              <a:solidFill>
                <a:srgbClr val="444444"/>
              </a:solidFill>
            </a:endParaRPr>
          </a:p>
          <a:p>
            <a:pPr marL="0" indent="0" algn="just">
              <a:buNone/>
            </a:pPr>
            <a:r>
              <a:rPr lang="cs-CZ" sz="2400" i="1" dirty="0">
                <a:solidFill>
                  <a:srgbClr val="444444"/>
                </a:solidFill>
              </a:rPr>
              <a:t>SG III se v měsíci září prodával za 250 Kč. Ve všech regionech se podařilo nový produkt SG III úspěšně uvést do prodeje, přičemž rozdíly v objemu prodejů odpovídají velikosti a zapojení obchodních týmů v jednotlivých regionech.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E5DFE96E-EB0D-49F3-6040-94F982EAABC6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4CD5F1F-01BD-772C-017F-4098B7477BEB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876839D1-FE87-D9AD-E638-FEBDA2B8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825978"/>
              </p:ext>
            </p:extLst>
          </p:nvPr>
        </p:nvGraphicFramePr>
        <p:xfrm>
          <a:off x="930304" y="1830401"/>
          <a:ext cx="10423496" cy="2595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7535">
                  <a:extLst>
                    <a:ext uri="{9D8B030D-6E8A-4147-A177-3AD203B41FA5}">
                      <a16:colId xmlns:a16="http://schemas.microsoft.com/office/drawing/2014/main" val="3679451786"/>
                    </a:ext>
                  </a:extLst>
                </a:gridCol>
                <a:gridCol w="1463622">
                  <a:extLst>
                    <a:ext uri="{9D8B030D-6E8A-4147-A177-3AD203B41FA5}">
                      <a16:colId xmlns:a16="http://schemas.microsoft.com/office/drawing/2014/main" val="3201273136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847124847"/>
                    </a:ext>
                  </a:extLst>
                </a:gridCol>
                <a:gridCol w="1916264">
                  <a:extLst>
                    <a:ext uri="{9D8B030D-6E8A-4147-A177-3AD203B41FA5}">
                      <a16:colId xmlns:a16="http://schemas.microsoft.com/office/drawing/2014/main" val="182222382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56572511"/>
                    </a:ext>
                  </a:extLst>
                </a:gridCol>
                <a:gridCol w="2108089">
                  <a:extLst>
                    <a:ext uri="{9D8B030D-6E8A-4147-A177-3AD203B41FA5}">
                      <a16:colId xmlns:a16="http://schemas.microsoft.com/office/drawing/2014/main" val="1492535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1600" dirty="0"/>
                        <a:t>Region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Prodáno ks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Výnos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Aktivní obchodníci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Neaktivní obchodníci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Počet obchodníků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5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dirty="0"/>
                        <a:t>Jižní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1 000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95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Praha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5 500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3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Severní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2 250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42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Východní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1 000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059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600" b="0" dirty="0"/>
                        <a:t>Západní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500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444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600" b="1" dirty="0"/>
                        <a:t>Celkem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b="1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b="1" dirty="0"/>
                        <a:t>10 250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b="1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b="1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331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49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8489B-54C8-C076-F17C-2F8619DB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Shrnutí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1DB50969-9396-4DD0-D9F6-0AC8F33A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b="1" dirty="0">
                <a:solidFill>
                  <a:srgbClr val="444444"/>
                </a:solidFill>
              </a:rPr>
              <a:t>Plán: </a:t>
            </a:r>
            <a:r>
              <a:rPr lang="cs-CZ" sz="2400" dirty="0">
                <a:solidFill>
                  <a:srgbClr val="444444"/>
                </a:solidFill>
              </a:rPr>
              <a:t>počet prodaných ks SG III = počet dostupných obchodníků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Počet prodaných ks SG III</a:t>
            </a:r>
            <a:r>
              <a:rPr lang="cs-CZ" sz="2400" dirty="0">
                <a:solidFill>
                  <a:srgbClr val="444444"/>
                </a:solidFill>
              </a:rPr>
              <a:t>: 37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Počet obchodníků</a:t>
            </a:r>
            <a:r>
              <a:rPr lang="cs-CZ" sz="2400" dirty="0">
                <a:solidFill>
                  <a:srgbClr val="444444"/>
                </a:solidFill>
              </a:rPr>
              <a:t>: 41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Počet aktivních obchodníků</a:t>
            </a:r>
            <a:r>
              <a:rPr lang="cs-CZ" sz="2400" dirty="0">
                <a:solidFill>
                  <a:srgbClr val="444444"/>
                </a:solidFill>
              </a:rPr>
              <a:t>: 18 (43,90 %)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Počet neaktivních obchodníků</a:t>
            </a:r>
            <a:r>
              <a:rPr lang="cs-CZ" sz="2400" dirty="0">
                <a:solidFill>
                  <a:srgbClr val="444444"/>
                </a:solidFill>
              </a:rPr>
              <a:t>: 23 (56,10 %)</a:t>
            </a:r>
          </a:p>
          <a:p>
            <a:pPr marL="0" indent="0">
              <a:buNone/>
            </a:pPr>
            <a:endParaRPr lang="cs-CZ" sz="2400" dirty="0">
              <a:solidFill>
                <a:srgbClr val="444444"/>
              </a:solidFill>
            </a:endParaRPr>
          </a:p>
          <a:p>
            <a:pPr marL="0" indent="0" algn="just">
              <a:buNone/>
            </a:pPr>
            <a:r>
              <a:rPr lang="cs-CZ" sz="2400" i="1" dirty="0">
                <a:solidFill>
                  <a:srgbClr val="444444"/>
                </a:solidFill>
              </a:rPr>
              <a:t>Ke splnění plánu zbývalo, aby ještě 4 obchodníci prodali alespoň 1 kus.</a:t>
            </a:r>
          </a:p>
          <a:p>
            <a:pPr marL="0" indent="0" algn="just">
              <a:buNone/>
            </a:pPr>
            <a:r>
              <a:rPr lang="cs-CZ" sz="2400" b="1" dirty="0">
                <a:solidFill>
                  <a:srgbClr val="444444"/>
                </a:solidFill>
              </a:rPr>
              <a:t>Stanovený plán prodeje bohužel nebyl splněn o 4 ks.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87615300-A797-8E0C-C710-7FCA8E5A1C64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0DA607C-663C-409C-73CE-1BAAD69CB5B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611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400" b="1" dirty="0">
                <a:solidFill>
                  <a:srgbClr val="444444"/>
                </a:solidFill>
              </a:rPr>
              <a:t>Děkuji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580" dirty="0">
                <a:solidFill>
                  <a:srgbClr val="002060"/>
                </a:solidFill>
              </a:rPr>
              <a:t>Dotazy zodpoví Ondřej Švorc (ondrej.svorc@drog.cz)</a:t>
            </a:r>
            <a:endParaRPr lang="en-US" sz="258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474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</TotalTime>
  <Words>198</Words>
  <Application>Microsoft Office PowerPoint</Application>
  <PresentationFormat>Širokoúhlá obrazovka</PresentationFormat>
  <Paragraphs>66</Paragraphs>
  <Slides>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Motiv Office</vt:lpstr>
      <vt:lpstr>Výsledky prodeje SG III</vt:lpstr>
      <vt:lpstr>Prodeje SG III dle regionu</vt:lpstr>
      <vt:lpstr>Shrnutí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Reactu</dc:title>
  <dc:creator>Ondřej Švorc</dc:creator>
  <cp:lastModifiedBy>Ondřej Švorc</cp:lastModifiedBy>
  <cp:revision>1530</cp:revision>
  <dcterms:created xsi:type="dcterms:W3CDTF">2024-03-27T11:04:38Z</dcterms:created>
  <dcterms:modified xsi:type="dcterms:W3CDTF">2026-01-16T17:11:06Z</dcterms:modified>
</cp:coreProperties>
</file>
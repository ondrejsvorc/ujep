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96" r:id="rId3"/>
    <p:sldId id="303" r:id="rId4"/>
    <p:sldId id="307" r:id="rId5"/>
    <p:sldId id="304" r:id="rId6"/>
    <p:sldId id="283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  <a:srgbClr val="8599AA"/>
    <a:srgbClr val="525252"/>
    <a:srgbClr val="007BC6"/>
    <a:srgbClr val="00D8FF"/>
    <a:srgbClr val="7CC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F9F60-53EA-4412-ACEA-357B39441279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9358D-C246-4F88-A2A0-85E0F35EE2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325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9358D-C246-4F88-A2A0-85E0F35EE278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7964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5D2F83-4F94-8D62-923A-EDC7EA2F5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6E4563-0F88-9A10-298A-3F3B8415C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21C72F7-0C28-D971-C6A5-2B31DC297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96D3C51-1176-E43C-8FED-8239F77F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49C466E-BED5-CEF2-75E6-F8389DE8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1192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CF043E-44B8-5AFF-A6FD-B95F96FD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64E962-EF0B-C90E-5AF8-8FA210936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A8010A-2B16-DF6C-B799-4064E14B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58E3783-F327-C756-C62C-96749826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6A81A5-1612-835C-2A8C-E3B291AF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21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6F0363-0E39-33E3-EA94-35CED901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65D2DDF-C678-B899-D835-7EC47FCC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8D2250-F1E3-51FC-12AA-A246A5A4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692BC04-E114-E58D-5C5C-9A293D01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01D2F6-1583-B09F-88B5-7B669201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152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D9C6BE-B170-98AC-FB14-F032C9AB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EBC99F-7BA7-FB7E-EF56-991DB6C7F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C34ADCF-2558-6C1D-86C5-A796F4937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76A04AD-5541-922C-9358-6EE84682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E8C79-65ED-9208-30DC-E362924A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2E3249C-35FA-FA80-2B84-45E9920A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059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4B06D0-975A-0029-4947-9029835AE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3080222-9087-ABFF-1657-5342EB8A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0BD95C1-12BC-BE87-2C3A-974C8E35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AE6B7B1-EE37-4CEA-A110-64E092E37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17BCF43-EA0D-4AF9-4948-D1464F20B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FF30722-19A0-38D5-6DE5-1A128324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202AA4A-6DB3-39A0-FEA5-D69A3148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1C6AC10-505F-2A84-F11B-EFF7B3C2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663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45AFAB-CCED-4D1C-CC13-F2C48068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26AEA9B-7511-B147-B369-8A40241C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B0282F3-91CC-2C6E-E41C-64D1CECF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F347761-BCA9-0661-253B-5689FE35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086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1EC6687-C807-98DB-7C7F-A5EDF45B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338BE7B-0887-5817-7D45-636B1BF4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C47D35E-0D51-E273-F079-69D6DE0A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629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647D8D-E162-BF8D-4C7C-90A78565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F57D60-7CA2-CC9B-268D-127231CA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C1E5317-A052-EFB8-39EB-35A8CCD6A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094D8A9-FEDA-A447-07C5-000DE60E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B71FB37-D330-9994-06DA-70F4830A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6FF09A2-3076-B555-6E4B-C6B7477B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571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F38E1F-551A-DAAB-C70E-88B15043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8A2F87F-5087-5850-16BD-C1991DA8B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0B92D89-F193-8C40-9CB0-EC4283D2F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0E2EE6D-BCCF-51F2-1F3F-EB56768A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5E28C61-44A8-F925-A698-DA41342F4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8A43E1D-3A47-CC98-1700-3F80F1B0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004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B2A1CF-72F0-D455-896D-B696A00B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F0FC423-71FA-E854-A315-B28B5ACB1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91EA907-B33A-1F7F-9F94-34CB5E77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F478A4C-8715-3AE9-ACE5-8A7BC9E1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4D400E-DB9A-A767-5323-0261A34B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665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532F133-0F82-0C45-7D51-F5254499B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734FFD8-6C66-8350-C3E1-D5EAC346C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D764339-C9EA-6E67-7A23-3C96D272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BAD5CF-93B2-0960-9245-5BBFB7E8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0FFC531-06B6-D3C5-69FA-3BE5A314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291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8F6B85C-9E22-84E7-C78E-C7FFEC91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AA7AE8E-D7C3-FE53-E8A3-AA487D4EA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4FFAC3-FBD0-19AA-06D8-E8988ACC0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10CBD-A3AC-4517-8E4F-B541DD49A688}" type="datetimeFigureOut">
              <a:rPr lang="cs-CZ" smtClean="0"/>
              <a:t>02.11.2025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3E77D4-F934-B7A3-1241-630FECEEE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8950E02-DA7F-51E0-E1A3-586490F66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310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5340" b="1" dirty="0">
                <a:solidFill>
                  <a:srgbClr val="444444"/>
                </a:solidFill>
              </a:rPr>
              <a:t>Retenční analýza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0854EB-EDDA-FFA7-9996-854BF6244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9902" y="344778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sz="2350" dirty="0">
                <a:solidFill>
                  <a:srgbClr val="002060"/>
                </a:solidFill>
              </a:rPr>
              <a:t>prosinec 2022 / leden 2023</a:t>
            </a:r>
            <a:endParaRPr lang="en-US" sz="2350" dirty="0">
              <a:solidFill>
                <a:srgbClr val="002060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Podnadpis 2">
            <a:extLst>
              <a:ext uri="{FF2B5EF4-FFF2-40B4-BE49-F238E27FC236}">
                <a16:creationId xmlns:a16="http://schemas.microsoft.com/office/drawing/2014/main" id="{0C94C480-46BE-61C0-519F-45DF2CCE0870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>
                <a:solidFill>
                  <a:srgbClr val="002060"/>
                </a:solidFill>
              </a:rPr>
              <a:t>Divize prodeje, oddělení retencí, GAMA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04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8489B-54C8-C076-F17C-2F8619DB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Oddělení retencí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1DB50969-9396-4DD0-D9F6-0AC8F33A2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solidFill>
                  <a:srgbClr val="444444"/>
                </a:solidFill>
              </a:rPr>
              <a:t>= oddělení, které se snaží </a:t>
            </a:r>
            <a:r>
              <a:rPr lang="cs-CZ" sz="2400" b="1" dirty="0">
                <a:solidFill>
                  <a:srgbClr val="444444"/>
                </a:solidFill>
              </a:rPr>
              <a:t>udržet klienty</a:t>
            </a:r>
            <a:r>
              <a:rPr lang="cs-CZ" sz="2400" dirty="0">
                <a:solidFill>
                  <a:srgbClr val="444444"/>
                </a:solidFill>
              </a:rPr>
              <a:t>, co </a:t>
            </a:r>
            <a:r>
              <a:rPr lang="cs-CZ" sz="2400" b="1" dirty="0">
                <a:solidFill>
                  <a:srgbClr val="444444"/>
                </a:solidFill>
              </a:rPr>
              <a:t>daly výpověď</a:t>
            </a:r>
          </a:p>
          <a:p>
            <a:r>
              <a:rPr lang="cs-CZ" sz="2400" b="1" dirty="0">
                <a:solidFill>
                  <a:srgbClr val="444444"/>
                </a:solidFill>
              </a:rPr>
              <a:t>retence klienta </a:t>
            </a:r>
            <a:r>
              <a:rPr lang="cs-CZ" sz="2400" dirty="0">
                <a:solidFill>
                  <a:srgbClr val="444444"/>
                </a:solidFill>
              </a:rPr>
              <a:t>= udržení stávajícího klienta, který se rozhodl odejít</a:t>
            </a:r>
          </a:p>
          <a:p>
            <a:r>
              <a:rPr lang="cs-CZ" sz="2400" dirty="0">
                <a:solidFill>
                  <a:srgbClr val="444444"/>
                </a:solidFill>
              </a:rPr>
              <a:t>v kontextu naší společnosti jde o </a:t>
            </a:r>
            <a:r>
              <a:rPr lang="cs-CZ" sz="2400" b="1" dirty="0">
                <a:solidFill>
                  <a:srgbClr val="444444"/>
                </a:solidFill>
              </a:rPr>
              <a:t>obvolávání klientů s výpovědí</a:t>
            </a:r>
          </a:p>
          <a:p>
            <a:r>
              <a:rPr lang="cs-CZ" sz="2400" dirty="0">
                <a:solidFill>
                  <a:srgbClr val="444444"/>
                </a:solidFill>
              </a:rPr>
              <a:t>těm jsou nabízeny </a:t>
            </a:r>
            <a:r>
              <a:rPr lang="cs-CZ" sz="2400" b="1" dirty="0">
                <a:solidFill>
                  <a:srgbClr val="444444"/>
                </a:solidFill>
              </a:rPr>
              <a:t>lepší podmínky</a:t>
            </a:r>
            <a:r>
              <a:rPr lang="cs-CZ" sz="2400" dirty="0">
                <a:solidFill>
                  <a:srgbClr val="444444"/>
                </a:solidFill>
              </a:rPr>
              <a:t>, pokud u společnosti GAMA zůstanou</a:t>
            </a:r>
          </a:p>
          <a:p>
            <a:pPr marL="0" indent="0">
              <a:buNone/>
            </a:pPr>
            <a:endParaRPr lang="cs-CZ" sz="2400" dirty="0">
              <a:solidFill>
                <a:srgbClr val="444444"/>
              </a:solidFill>
            </a:endParaRPr>
          </a:p>
          <a:p>
            <a:pPr marL="0" indent="0">
              <a:buNone/>
            </a:pPr>
            <a:r>
              <a:rPr lang="cs-CZ" sz="2400" i="1" dirty="0">
                <a:solidFill>
                  <a:srgbClr val="444444"/>
                </a:solidFill>
              </a:rPr>
              <a:t>Tato retenční analýza se týká pouze klientů, kteří dali výpověď v </a:t>
            </a:r>
            <a:r>
              <a:rPr lang="cs-CZ" sz="2400" b="1" i="1" dirty="0">
                <a:solidFill>
                  <a:srgbClr val="444444"/>
                </a:solidFill>
              </a:rPr>
              <a:t>prosinci 2022</a:t>
            </a:r>
            <a:br>
              <a:rPr lang="cs-CZ" sz="2400" b="1" i="1" dirty="0">
                <a:solidFill>
                  <a:srgbClr val="444444"/>
                </a:solidFill>
              </a:rPr>
            </a:br>
            <a:r>
              <a:rPr lang="cs-CZ" sz="2400" i="1" dirty="0">
                <a:solidFill>
                  <a:srgbClr val="444444"/>
                </a:solidFill>
              </a:rPr>
              <a:t>a byly obvoláváni našimi operátory v </a:t>
            </a:r>
            <a:r>
              <a:rPr lang="cs-CZ" sz="2400" b="1" i="1" dirty="0">
                <a:solidFill>
                  <a:srgbClr val="444444"/>
                </a:solidFill>
              </a:rPr>
              <a:t>lednu 2023</a:t>
            </a:r>
            <a:r>
              <a:rPr lang="cs-CZ" sz="2400" i="1" dirty="0">
                <a:solidFill>
                  <a:srgbClr val="444444"/>
                </a:solidFill>
              </a:rPr>
              <a:t>.</a:t>
            </a:r>
          </a:p>
          <a:p>
            <a:endParaRPr lang="cs-CZ" sz="2400" dirty="0">
              <a:solidFill>
                <a:srgbClr val="444444"/>
              </a:solidFill>
            </a:endParaRP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87615300-A797-8E0C-C710-7FCA8E5A1C64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0DA607C-663C-409C-73CE-1BAAD69CB5B7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7704E5AB-D674-518D-308E-1AD6CE3DEC99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>
                <a:solidFill>
                  <a:srgbClr val="002060"/>
                </a:solidFill>
              </a:rPr>
              <a:t>Divize prodeje, oddělení retencí, GAMA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1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55032-635A-3C41-42F1-957D3FA6A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57194D-960D-9A19-5B49-B18A0BDD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Kontext a cíl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307354AE-3B6A-AC19-C0EC-398304C90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6708" cy="4351338"/>
          </a:xfrm>
        </p:spPr>
        <p:txBody>
          <a:bodyPr>
            <a:normAutofit/>
          </a:bodyPr>
          <a:lstStyle/>
          <a:p>
            <a:r>
              <a:rPr lang="cs-CZ" sz="2400" dirty="0">
                <a:solidFill>
                  <a:srgbClr val="444444"/>
                </a:solidFill>
              </a:rPr>
              <a:t>oddělení retencí má celkem </a:t>
            </a:r>
            <a:r>
              <a:rPr lang="cs-CZ" sz="2400" b="1" dirty="0">
                <a:solidFill>
                  <a:srgbClr val="444444"/>
                </a:solidFill>
              </a:rPr>
              <a:t>6 operátorů</a:t>
            </a:r>
          </a:p>
          <a:p>
            <a:r>
              <a:rPr lang="cs-CZ" sz="2400" dirty="0">
                <a:solidFill>
                  <a:srgbClr val="444444"/>
                </a:solidFill>
              </a:rPr>
              <a:t>každý </a:t>
            </a:r>
            <a:r>
              <a:rPr lang="cs-CZ" sz="2400" b="1" dirty="0">
                <a:solidFill>
                  <a:srgbClr val="444444"/>
                </a:solidFill>
              </a:rPr>
              <a:t>operátor</a:t>
            </a:r>
            <a:r>
              <a:rPr lang="cs-CZ" sz="2400" dirty="0">
                <a:solidFill>
                  <a:srgbClr val="444444"/>
                </a:solidFill>
              </a:rPr>
              <a:t> má přidělené </a:t>
            </a:r>
            <a:r>
              <a:rPr lang="cs-CZ" sz="2400" b="1" dirty="0">
                <a:solidFill>
                  <a:srgbClr val="444444"/>
                </a:solidFill>
              </a:rPr>
              <a:t>konkrétní klienty</a:t>
            </a:r>
            <a:r>
              <a:rPr lang="cs-CZ" sz="2400" dirty="0">
                <a:solidFill>
                  <a:srgbClr val="444444"/>
                </a:solidFill>
              </a:rPr>
              <a:t>, které se má pokusit obvolat</a:t>
            </a:r>
          </a:p>
          <a:p>
            <a:r>
              <a:rPr lang="cs-CZ" sz="2400" b="1" dirty="0">
                <a:solidFill>
                  <a:srgbClr val="444444"/>
                </a:solidFill>
              </a:rPr>
              <a:t>nabídka: </a:t>
            </a:r>
            <a:r>
              <a:rPr lang="cs-CZ" sz="2400" dirty="0">
                <a:solidFill>
                  <a:srgbClr val="444444"/>
                </a:solidFill>
              </a:rPr>
              <a:t>sleva </a:t>
            </a:r>
            <a:r>
              <a:rPr lang="cs-CZ" sz="2400" b="1" dirty="0">
                <a:solidFill>
                  <a:srgbClr val="444444"/>
                </a:solidFill>
              </a:rPr>
              <a:t>350 Kč/měsíc </a:t>
            </a:r>
            <a:r>
              <a:rPr lang="cs-CZ" sz="2400" dirty="0">
                <a:solidFill>
                  <a:srgbClr val="444444"/>
                </a:solidFill>
              </a:rPr>
              <a:t>na </a:t>
            </a:r>
            <a:r>
              <a:rPr lang="cs-CZ" sz="2400" b="1" dirty="0">
                <a:solidFill>
                  <a:srgbClr val="444444"/>
                </a:solidFill>
              </a:rPr>
              <a:t>6</a:t>
            </a:r>
            <a:r>
              <a:rPr lang="cs-CZ" sz="2400" dirty="0">
                <a:solidFill>
                  <a:srgbClr val="444444"/>
                </a:solidFill>
              </a:rPr>
              <a:t> </a:t>
            </a:r>
            <a:r>
              <a:rPr lang="cs-CZ" sz="2400" b="1" dirty="0">
                <a:solidFill>
                  <a:srgbClr val="444444"/>
                </a:solidFill>
              </a:rPr>
              <a:t>měsíců </a:t>
            </a:r>
            <a:r>
              <a:rPr lang="cs-CZ" sz="2400" dirty="0">
                <a:solidFill>
                  <a:srgbClr val="444444"/>
                </a:solidFill>
              </a:rPr>
              <a:t>při prodloužení smlouvy o </a:t>
            </a:r>
            <a:r>
              <a:rPr lang="cs-CZ" sz="2400" b="1" dirty="0">
                <a:solidFill>
                  <a:srgbClr val="444444"/>
                </a:solidFill>
              </a:rPr>
              <a:t>18 měsíců</a:t>
            </a:r>
          </a:p>
          <a:p>
            <a:r>
              <a:rPr lang="cs-CZ" sz="2400" b="1" dirty="0">
                <a:solidFill>
                  <a:srgbClr val="444444"/>
                </a:solidFill>
              </a:rPr>
              <a:t>náklady:</a:t>
            </a:r>
          </a:p>
          <a:p>
            <a:pPr lvl="1"/>
            <a:r>
              <a:rPr lang="cs-CZ" sz="2000" dirty="0">
                <a:solidFill>
                  <a:srgbClr val="444444"/>
                </a:solidFill>
              </a:rPr>
              <a:t>95 Kč / </a:t>
            </a:r>
            <a:r>
              <a:rPr lang="cs-CZ" sz="2000" b="1" dirty="0">
                <a:solidFill>
                  <a:srgbClr val="444444"/>
                </a:solidFill>
              </a:rPr>
              <a:t>přijatý</a:t>
            </a:r>
            <a:r>
              <a:rPr lang="cs-CZ" sz="2000" dirty="0">
                <a:solidFill>
                  <a:srgbClr val="444444"/>
                </a:solidFill>
              </a:rPr>
              <a:t> hovor (= operátor se klientovi dovolal a přednesl mu nabídku)</a:t>
            </a:r>
          </a:p>
          <a:p>
            <a:pPr lvl="1"/>
            <a:r>
              <a:rPr lang="cs-CZ" sz="2000" dirty="0">
                <a:solidFill>
                  <a:srgbClr val="444444"/>
                </a:solidFill>
              </a:rPr>
              <a:t>35 Kč / </a:t>
            </a:r>
            <a:r>
              <a:rPr lang="cs-CZ" sz="2000" b="1" dirty="0">
                <a:solidFill>
                  <a:srgbClr val="444444"/>
                </a:solidFill>
              </a:rPr>
              <a:t>nepřijatý</a:t>
            </a:r>
            <a:r>
              <a:rPr lang="cs-CZ" sz="2000" dirty="0">
                <a:solidFill>
                  <a:srgbClr val="444444"/>
                </a:solidFill>
              </a:rPr>
              <a:t> hovor (= operátor se klientovi nedovolal)</a:t>
            </a:r>
          </a:p>
          <a:p>
            <a:r>
              <a:rPr lang="cs-CZ" sz="2400" b="1" dirty="0">
                <a:solidFill>
                  <a:srgbClr val="444444"/>
                </a:solidFill>
              </a:rPr>
              <a:t>cíl: </a:t>
            </a:r>
            <a:r>
              <a:rPr lang="cs-CZ" sz="2400" dirty="0">
                <a:solidFill>
                  <a:srgbClr val="444444"/>
                </a:solidFill>
              </a:rPr>
              <a:t>zjistit, zda se vyplatí dělat retenční nabídky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9D6A7671-5914-6E39-0B65-16EF73A6E22F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19058378-D449-4197-CD6C-AFFDF86AF747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E9581F0D-4821-181F-B568-A9C8087CBE75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>
                <a:solidFill>
                  <a:srgbClr val="002060"/>
                </a:solidFill>
              </a:rPr>
              <a:t>Divize prodeje, oddělení retencí, GAMA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04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79C6-B3D7-2BAB-A17B-78D5F9D7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B91310-8F58-F612-29C0-1F02BF37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Rozložení výsledků retenčních hovorů</a:t>
            </a:r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A95346E2-6B1C-B937-B185-90E17098B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6708" cy="4351338"/>
          </a:xfrm>
        </p:spPr>
        <p:txBody>
          <a:bodyPr>
            <a:normAutofit/>
          </a:bodyPr>
          <a:lstStyle/>
          <a:p>
            <a:r>
              <a:rPr lang="cs-CZ" sz="2400" dirty="0">
                <a:solidFill>
                  <a:srgbClr val="444444"/>
                </a:solidFill>
              </a:rPr>
              <a:t>týká se období </a:t>
            </a:r>
            <a:r>
              <a:rPr lang="cs-CZ" sz="2400" b="1" dirty="0">
                <a:solidFill>
                  <a:srgbClr val="444444"/>
                </a:solidFill>
              </a:rPr>
              <a:t>leden 2023</a:t>
            </a:r>
          </a:p>
          <a:p>
            <a:r>
              <a:rPr lang="cs-CZ" sz="2400" dirty="0">
                <a:solidFill>
                  <a:srgbClr val="444444"/>
                </a:solidFill>
              </a:rPr>
              <a:t>operátoři </a:t>
            </a:r>
            <a:r>
              <a:rPr lang="cs-CZ" sz="2400" b="1" dirty="0">
                <a:solidFill>
                  <a:srgbClr val="444444"/>
                </a:solidFill>
              </a:rPr>
              <a:t>obvolávali</a:t>
            </a:r>
            <a:r>
              <a:rPr lang="cs-CZ" sz="2400" dirty="0">
                <a:solidFill>
                  <a:srgbClr val="444444"/>
                </a:solidFill>
              </a:rPr>
              <a:t> celkem </a:t>
            </a:r>
            <a:r>
              <a:rPr lang="cs-CZ" sz="2400" b="1" dirty="0">
                <a:solidFill>
                  <a:srgbClr val="444444"/>
                </a:solidFill>
              </a:rPr>
              <a:t>156 klientů</a:t>
            </a:r>
          </a:p>
          <a:p>
            <a:r>
              <a:rPr lang="cs-CZ" sz="2400" dirty="0">
                <a:solidFill>
                  <a:srgbClr val="444444"/>
                </a:solidFill>
              </a:rPr>
              <a:t>operátoři se </a:t>
            </a:r>
            <a:r>
              <a:rPr lang="cs-CZ" sz="2400" b="1" dirty="0">
                <a:solidFill>
                  <a:srgbClr val="444444"/>
                </a:solidFill>
              </a:rPr>
              <a:t>nedovolali</a:t>
            </a:r>
            <a:r>
              <a:rPr lang="cs-CZ" sz="2400" dirty="0">
                <a:solidFill>
                  <a:srgbClr val="444444"/>
                </a:solidFill>
              </a:rPr>
              <a:t> </a:t>
            </a:r>
            <a:r>
              <a:rPr lang="cs-CZ" sz="2400" b="1" dirty="0">
                <a:solidFill>
                  <a:srgbClr val="444444"/>
                </a:solidFill>
              </a:rPr>
              <a:t>69</a:t>
            </a:r>
            <a:r>
              <a:rPr lang="cs-CZ" sz="2400" dirty="0">
                <a:solidFill>
                  <a:srgbClr val="444444"/>
                </a:solidFill>
              </a:rPr>
              <a:t> </a:t>
            </a:r>
            <a:r>
              <a:rPr lang="cs-CZ" sz="2400" b="1" dirty="0">
                <a:solidFill>
                  <a:srgbClr val="444444"/>
                </a:solidFill>
              </a:rPr>
              <a:t>klientům</a:t>
            </a:r>
          </a:p>
          <a:p>
            <a:r>
              <a:rPr lang="cs-CZ" sz="2400" dirty="0">
                <a:solidFill>
                  <a:srgbClr val="444444"/>
                </a:solidFill>
              </a:rPr>
              <a:t>k jinému poskytovateli </a:t>
            </a:r>
            <a:r>
              <a:rPr lang="cs-CZ" sz="2400" b="1" dirty="0">
                <a:solidFill>
                  <a:srgbClr val="444444"/>
                </a:solidFill>
              </a:rPr>
              <a:t>odešlo</a:t>
            </a:r>
            <a:r>
              <a:rPr lang="cs-CZ" sz="2400" dirty="0">
                <a:solidFill>
                  <a:srgbClr val="444444"/>
                </a:solidFill>
              </a:rPr>
              <a:t> </a:t>
            </a:r>
            <a:r>
              <a:rPr lang="cs-CZ" sz="2400" b="1" dirty="0">
                <a:solidFill>
                  <a:srgbClr val="444444"/>
                </a:solidFill>
              </a:rPr>
              <a:t>27</a:t>
            </a:r>
            <a:r>
              <a:rPr lang="cs-CZ" sz="2400" dirty="0">
                <a:solidFill>
                  <a:srgbClr val="444444"/>
                </a:solidFill>
              </a:rPr>
              <a:t> </a:t>
            </a:r>
            <a:r>
              <a:rPr lang="cs-CZ" sz="2400" b="1" dirty="0">
                <a:solidFill>
                  <a:srgbClr val="444444"/>
                </a:solidFill>
              </a:rPr>
              <a:t>klientů</a:t>
            </a:r>
          </a:p>
          <a:p>
            <a:r>
              <a:rPr lang="cs-CZ" sz="2400" dirty="0">
                <a:solidFill>
                  <a:srgbClr val="444444"/>
                </a:solidFill>
              </a:rPr>
              <a:t>odchod ze společnosti GAMA si stále </a:t>
            </a:r>
            <a:r>
              <a:rPr lang="cs-CZ" sz="2400" b="1" dirty="0">
                <a:solidFill>
                  <a:srgbClr val="444444"/>
                </a:solidFill>
              </a:rPr>
              <a:t>rozmýšlí</a:t>
            </a:r>
            <a:r>
              <a:rPr lang="cs-CZ" sz="2400" dirty="0">
                <a:solidFill>
                  <a:srgbClr val="444444"/>
                </a:solidFill>
              </a:rPr>
              <a:t> </a:t>
            </a:r>
            <a:r>
              <a:rPr lang="cs-CZ" sz="2400" b="1" dirty="0">
                <a:solidFill>
                  <a:srgbClr val="444444"/>
                </a:solidFill>
              </a:rPr>
              <a:t>11</a:t>
            </a:r>
            <a:r>
              <a:rPr lang="cs-CZ" sz="2400" dirty="0">
                <a:solidFill>
                  <a:srgbClr val="444444"/>
                </a:solidFill>
              </a:rPr>
              <a:t> </a:t>
            </a:r>
            <a:r>
              <a:rPr lang="cs-CZ" sz="2400" b="1" dirty="0">
                <a:solidFill>
                  <a:srgbClr val="444444"/>
                </a:solidFill>
              </a:rPr>
              <a:t>klientů</a:t>
            </a:r>
          </a:p>
          <a:p>
            <a:r>
              <a:rPr lang="cs-CZ" sz="2400" dirty="0">
                <a:solidFill>
                  <a:srgbClr val="444444"/>
                </a:solidFill>
              </a:rPr>
              <a:t>operátorům se </a:t>
            </a:r>
            <a:r>
              <a:rPr lang="cs-CZ" sz="2400" b="1" dirty="0">
                <a:solidFill>
                  <a:srgbClr val="444444"/>
                </a:solidFill>
              </a:rPr>
              <a:t>podařilo přesvědčit 49</a:t>
            </a:r>
            <a:r>
              <a:rPr lang="cs-CZ" sz="2400" dirty="0">
                <a:solidFill>
                  <a:srgbClr val="444444"/>
                </a:solidFill>
              </a:rPr>
              <a:t> </a:t>
            </a:r>
            <a:r>
              <a:rPr lang="cs-CZ" sz="2400" b="1" dirty="0">
                <a:solidFill>
                  <a:srgbClr val="444444"/>
                </a:solidFill>
              </a:rPr>
              <a:t>klientů</a:t>
            </a:r>
          </a:p>
          <a:p>
            <a:endParaRPr lang="cs-CZ" sz="2400" b="1" dirty="0">
              <a:solidFill>
                <a:srgbClr val="444444"/>
              </a:solidFill>
            </a:endParaRPr>
          </a:p>
          <a:p>
            <a:pPr marL="0" indent="0">
              <a:buNone/>
            </a:pPr>
            <a:r>
              <a:rPr lang="cs-CZ" sz="2400" i="1" dirty="0">
                <a:solidFill>
                  <a:srgbClr val="444444"/>
                </a:solidFill>
              </a:rPr>
              <a:t>Příležitost přesvědčit 11 rozmýšlejících se klientů a dalších 69 klientů, kterým</a:t>
            </a:r>
            <a:br>
              <a:rPr lang="cs-CZ" sz="2400" i="1" dirty="0">
                <a:solidFill>
                  <a:srgbClr val="444444"/>
                </a:solidFill>
              </a:rPr>
            </a:br>
            <a:r>
              <a:rPr lang="cs-CZ" sz="2400" i="1" dirty="0">
                <a:solidFill>
                  <a:srgbClr val="444444"/>
                </a:solidFill>
              </a:rPr>
              <a:t>se nepodařilo dovolat. Tito klienti by přinesli další každoměsíční zisk.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A3EE26F7-6510-5AF0-9D2B-1C576D880AD5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D4326717-F465-F9BE-A784-373FF51DEF15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79E8A326-ACDC-28A9-88CE-8394803E7FB4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>
                <a:solidFill>
                  <a:srgbClr val="002060"/>
                </a:solidFill>
              </a:rPr>
              <a:t>Divize prodeje, oddělení retencí, GAMA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318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3AADA-1A6E-EF7A-1C97-C6AA82C4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EEBB3D-E830-B4D7-AD1D-64845F91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Shrnutí retenční kampaně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3DF44210-58E1-F49F-E421-B77027402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28514" cy="4351338"/>
          </a:xfrm>
        </p:spPr>
        <p:txBody>
          <a:bodyPr>
            <a:normAutofit/>
          </a:bodyPr>
          <a:lstStyle/>
          <a:p>
            <a:r>
              <a:rPr lang="cs-CZ" sz="2400" dirty="0">
                <a:solidFill>
                  <a:srgbClr val="444444"/>
                </a:solidFill>
              </a:rPr>
              <a:t>Celkem obvoláno: </a:t>
            </a:r>
            <a:r>
              <a:rPr lang="cs-CZ" sz="2400" b="1" dirty="0">
                <a:solidFill>
                  <a:srgbClr val="444444"/>
                </a:solidFill>
              </a:rPr>
              <a:t>156 klientů</a:t>
            </a:r>
          </a:p>
          <a:p>
            <a:r>
              <a:rPr lang="cs-CZ" sz="2400" dirty="0">
                <a:solidFill>
                  <a:srgbClr val="444444"/>
                </a:solidFill>
              </a:rPr>
              <a:t>Získáno zpět: </a:t>
            </a:r>
            <a:r>
              <a:rPr lang="cs-CZ" sz="2400" b="1" dirty="0">
                <a:solidFill>
                  <a:srgbClr val="444444"/>
                </a:solidFill>
              </a:rPr>
              <a:t>49 klientů </a:t>
            </a:r>
            <a:r>
              <a:rPr lang="cs-CZ" sz="2400" dirty="0">
                <a:solidFill>
                  <a:srgbClr val="444444"/>
                </a:solidFill>
              </a:rPr>
              <a:t>(přičemž 11 dalších se stále rozmýšlí)</a:t>
            </a:r>
            <a:endParaRPr lang="cs-CZ" sz="2400" b="1" dirty="0">
              <a:solidFill>
                <a:srgbClr val="444444"/>
              </a:solidFill>
            </a:endParaRPr>
          </a:p>
          <a:p>
            <a:r>
              <a:rPr lang="cs-CZ" sz="2400" dirty="0">
                <a:solidFill>
                  <a:srgbClr val="444444"/>
                </a:solidFill>
              </a:rPr>
              <a:t>Celkové náklady na všechny hovory: </a:t>
            </a:r>
            <a:r>
              <a:rPr lang="cs-CZ" sz="2400" b="1" dirty="0">
                <a:solidFill>
                  <a:srgbClr val="444444"/>
                </a:solidFill>
              </a:rPr>
              <a:t>10 680 Kč</a:t>
            </a:r>
          </a:p>
          <a:p>
            <a:r>
              <a:rPr lang="cs-CZ" sz="2400" dirty="0">
                <a:solidFill>
                  <a:srgbClr val="444444"/>
                </a:solidFill>
              </a:rPr>
              <a:t>Celkový přínos za získané klienty: </a:t>
            </a:r>
            <a:r>
              <a:rPr lang="cs-CZ" sz="2400" b="1" dirty="0">
                <a:solidFill>
                  <a:srgbClr val="444444"/>
                </a:solidFill>
              </a:rPr>
              <a:t>73 500 Kč</a:t>
            </a:r>
          </a:p>
          <a:p>
            <a:r>
              <a:rPr lang="cs-CZ" sz="2400" dirty="0">
                <a:solidFill>
                  <a:srgbClr val="444444"/>
                </a:solidFill>
              </a:rPr>
              <a:t>Zisk po odečtení nákladů: </a:t>
            </a:r>
            <a:r>
              <a:rPr lang="cs-CZ" sz="2400" b="1" dirty="0">
                <a:solidFill>
                  <a:srgbClr val="444444"/>
                </a:solidFill>
              </a:rPr>
              <a:t>62 820 Kč</a:t>
            </a:r>
          </a:p>
          <a:p>
            <a:r>
              <a:rPr lang="cs-CZ" sz="2400" dirty="0">
                <a:solidFill>
                  <a:srgbClr val="444444"/>
                </a:solidFill>
              </a:rPr>
              <a:t>Poměr návratnosti (ROI): </a:t>
            </a:r>
            <a:r>
              <a:rPr lang="cs-CZ" sz="2400" b="1" dirty="0">
                <a:solidFill>
                  <a:srgbClr val="444444"/>
                </a:solidFill>
              </a:rPr>
              <a:t>588 %</a:t>
            </a:r>
          </a:p>
          <a:p>
            <a:endParaRPr lang="cs-CZ" sz="2400" b="1" dirty="0">
              <a:solidFill>
                <a:srgbClr val="444444"/>
              </a:solidFill>
            </a:endParaRPr>
          </a:p>
          <a:p>
            <a:pPr marL="0" indent="0">
              <a:buNone/>
            </a:pPr>
            <a:r>
              <a:rPr lang="cs-CZ" sz="2400" i="1" dirty="0">
                <a:solidFill>
                  <a:srgbClr val="444444"/>
                </a:solidFill>
              </a:rPr>
              <a:t>Retenční kampaň přinesla </a:t>
            </a:r>
            <a:r>
              <a:rPr lang="cs-CZ" sz="2400" b="1" i="1" dirty="0">
                <a:solidFill>
                  <a:srgbClr val="444444"/>
                </a:solidFill>
              </a:rPr>
              <a:t>čistý zisk 62 820 Kč </a:t>
            </a:r>
            <a:r>
              <a:rPr lang="cs-CZ" sz="2400" i="1" dirty="0">
                <a:solidFill>
                  <a:srgbClr val="444444"/>
                </a:solidFill>
              </a:rPr>
              <a:t>a </a:t>
            </a:r>
            <a:r>
              <a:rPr lang="cs-CZ" sz="2400" b="1" i="1" dirty="0">
                <a:solidFill>
                  <a:srgbClr val="444444"/>
                </a:solidFill>
              </a:rPr>
              <a:t>návratnost 588 %</a:t>
            </a:r>
            <a:r>
              <a:rPr lang="cs-CZ" sz="2400" i="1" dirty="0">
                <a:solidFill>
                  <a:srgbClr val="444444"/>
                </a:solidFill>
              </a:rPr>
              <a:t>.</a:t>
            </a:r>
            <a:br>
              <a:rPr lang="cs-CZ" sz="2400" b="1" i="1" dirty="0">
                <a:solidFill>
                  <a:srgbClr val="444444"/>
                </a:solidFill>
              </a:rPr>
            </a:br>
            <a:r>
              <a:rPr lang="cs-CZ" sz="2400" i="1" dirty="0">
                <a:solidFill>
                  <a:srgbClr val="444444"/>
                </a:solidFill>
              </a:rPr>
              <a:t>Investice do retenčních hovorů se firmě jednoznačně vyplatila.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59E50C07-B88B-B5D7-5A7F-8194D70DCF7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FE4AD70B-7F58-A1AE-DA3F-7BCFE68D5078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F4142343-6570-CA76-5193-E4FC0173FF11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>
                <a:solidFill>
                  <a:srgbClr val="002060"/>
                </a:solidFill>
              </a:rPr>
              <a:t>Divize prodeje, oddělení retencí, GAMA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081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5400" b="1" dirty="0">
                <a:solidFill>
                  <a:srgbClr val="444444"/>
                </a:solidFill>
              </a:rPr>
              <a:t>Děkuji za pozornost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0854EB-EDDA-FFA7-9996-854BF6244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4778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sz="2580" dirty="0">
                <a:solidFill>
                  <a:srgbClr val="002060"/>
                </a:solidFill>
              </a:rPr>
              <a:t>Dotazy zodpoví Ondřej Švorc (ondrej.svorc@gama.cz)</a:t>
            </a:r>
            <a:endParaRPr lang="en-US" sz="2580" dirty="0">
              <a:solidFill>
                <a:srgbClr val="002060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Podnadpis 2">
            <a:extLst>
              <a:ext uri="{FF2B5EF4-FFF2-40B4-BE49-F238E27FC236}">
                <a16:creationId xmlns:a16="http://schemas.microsoft.com/office/drawing/2014/main" id="{6E019003-5724-7864-B5DA-41A0D6479B7F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>
                <a:solidFill>
                  <a:srgbClr val="002060"/>
                </a:solidFill>
              </a:rPr>
              <a:t>Divize prodeje, oddělení retencí, GAMA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74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2325</TotalTime>
  <Words>352</Words>
  <Application>Microsoft Office PowerPoint</Application>
  <PresentationFormat>Širokoúhlá obrazovka</PresentationFormat>
  <Paragraphs>44</Paragraphs>
  <Slides>6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Motiv Office</vt:lpstr>
      <vt:lpstr>Retenční analýza</vt:lpstr>
      <vt:lpstr>Oddělení retencí</vt:lpstr>
      <vt:lpstr>Kontext a cíl</vt:lpstr>
      <vt:lpstr>Rozložení výsledků retenčních hovorů</vt:lpstr>
      <vt:lpstr>Shrnutí retenční kampaně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Reactu</dc:title>
  <dc:creator>Ondřej Švorc</dc:creator>
  <cp:lastModifiedBy>Ondřej Švorc</cp:lastModifiedBy>
  <cp:revision>1477</cp:revision>
  <dcterms:created xsi:type="dcterms:W3CDTF">2024-03-27T11:04:38Z</dcterms:created>
  <dcterms:modified xsi:type="dcterms:W3CDTF">2025-11-02T13:48:00Z</dcterms:modified>
</cp:coreProperties>
</file>